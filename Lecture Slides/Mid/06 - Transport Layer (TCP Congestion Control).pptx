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Corbel"/>
      <p:regular r:id="rId41"/>
      <p:bold r:id="rId42"/>
      <p:italic r:id="rId43"/>
      <p:boldItalic r:id="rId44"/>
    </p:embeddedFont>
    <p:embeddedFont>
      <p:font typeface="Tahoma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iuFqRCWT8caOvdaH1hcx2DBlDI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Corbel-bold.fntdata"/><Relationship Id="rId41" Type="http://schemas.openxmlformats.org/officeDocument/2006/relationships/font" Target="fonts/Corbel-regular.fntdata"/><Relationship Id="rId22" Type="http://schemas.openxmlformats.org/officeDocument/2006/relationships/slide" Target="slides/slide17.xml"/><Relationship Id="rId44" Type="http://schemas.openxmlformats.org/officeDocument/2006/relationships/font" Target="fonts/Corbel-boldItalic.fntdata"/><Relationship Id="rId21" Type="http://schemas.openxmlformats.org/officeDocument/2006/relationships/slide" Target="slides/slide16.xml"/><Relationship Id="rId43" Type="http://schemas.openxmlformats.org/officeDocument/2006/relationships/font" Target="fonts/Corbel-italic.fntdata"/><Relationship Id="rId24" Type="http://schemas.openxmlformats.org/officeDocument/2006/relationships/slide" Target="slides/slide19.xml"/><Relationship Id="rId46" Type="http://schemas.openxmlformats.org/officeDocument/2006/relationships/font" Target="fonts/Tahoma-bold.fntdata"/><Relationship Id="rId23" Type="http://schemas.openxmlformats.org/officeDocument/2006/relationships/slide" Target="slides/slide18.xml"/><Relationship Id="rId45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07f41303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g3a07f41303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g3a07f41303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0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ctrTitle"/>
          </p:nvPr>
        </p:nvSpPr>
        <p:spPr>
          <a:xfrm>
            <a:off x="3107201" y="132394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Transport Layer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(TCP Congestion Control)</a:t>
            </a:r>
            <a:endParaRPr/>
          </a:p>
        </p:txBody>
      </p:sp>
      <p:sp>
        <p:nvSpPr>
          <p:cNvPr id="139" name="Google Shape;139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6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0" name="Google Shape;1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/>
              <a:t>Congestion Control Vs Flow Control</a:t>
            </a:r>
            <a:endParaRPr/>
          </a:p>
        </p:txBody>
      </p:sp>
      <p:sp>
        <p:nvSpPr>
          <p:cNvPr id="146" name="Google Shape;146;p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chemeClr val="accent1"/>
                </a:solidFill>
              </a:rPr>
              <a:t>Congestion control </a:t>
            </a:r>
            <a:r>
              <a:rPr lang="en-US"/>
              <a:t>try to make sure subnet can carry oﬀered traﬃc, a global issue involving all the hosts and routers.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It can be open-loop based or involving feedback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chemeClr val="accent1"/>
                </a:solidFill>
              </a:rPr>
              <a:t>Flow control </a:t>
            </a:r>
            <a:r>
              <a:rPr lang="en-US"/>
              <a:t>is related to point-to-point traﬃc between given sender and receiver.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it always involves direct feedback from receiver to sender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/>
        </p:nvSpPr>
        <p:spPr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1905000" y="137160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Congestion occurs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load on the network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&gt;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capacity of the network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2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828800" y="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Congestion:</a:t>
            </a:r>
            <a:endParaRPr/>
          </a:p>
        </p:txBody>
      </p:sp>
      <p:sp>
        <p:nvSpPr>
          <p:cNvPr id="155" name="Google Shape;155;p2"/>
          <p:cNvSpPr/>
          <p:nvPr/>
        </p:nvSpPr>
        <p:spPr>
          <a:xfrm>
            <a:off x="5272087" y="3470274"/>
            <a:ext cx="5305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sent to the network</a:t>
            </a:r>
            <a:endParaRPr/>
          </a:p>
        </p:txBody>
      </p:sp>
      <p:sp>
        <p:nvSpPr>
          <p:cNvPr id="156" name="Google Shape;156;p2"/>
          <p:cNvSpPr/>
          <p:nvPr/>
        </p:nvSpPr>
        <p:spPr>
          <a:xfrm>
            <a:off x="2057400" y="3124201"/>
            <a:ext cx="5487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a network can handle.</a:t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2590800" y="2057400"/>
            <a:ext cx="10668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7924800" y="2133600"/>
            <a:ext cx="16764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59" name="Google Shape;1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962400"/>
            <a:ext cx="7761288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3"/>
          <p:cNvCxnSpPr/>
          <p:nvPr/>
        </p:nvCxnSpPr>
        <p:spPr>
          <a:xfrm>
            <a:off x="1676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3"/>
          <p:cNvSpPr txBox="1"/>
          <p:nvPr/>
        </p:nvSpPr>
        <p:spPr>
          <a:xfrm>
            <a:off x="1828801" y="481013"/>
            <a:ext cx="479266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Queues in a router</a:t>
            </a:r>
            <a:endParaRPr/>
          </a:p>
        </p:txBody>
      </p:sp>
      <p:pic>
        <p:nvPicPr>
          <p:cNvPr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714500"/>
            <a:ext cx="7761288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"/>
          <p:cNvSpPr/>
          <p:nvPr/>
        </p:nvSpPr>
        <p:spPr>
          <a:xfrm>
            <a:off x="2057400" y="4350217"/>
            <a:ext cx="82296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arrival rate &gt; the  packet processing rate  </a:t>
            </a:r>
            <a:endParaRPr/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input queues becomes longer and longer</a:t>
            </a:r>
            <a:endParaRPr/>
          </a:p>
          <a:p>
            <a:pPr indent="-1905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departure rate &lt; the  packet processing rate  </a:t>
            </a:r>
            <a:endParaRPr/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output queues becomes longer and longer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/>
          </a:p>
        </p:txBody>
      </p:sp>
      <p:graphicFrame>
        <p:nvGraphicFramePr>
          <p:cNvPr id="175" name="Google Shape;175;p4"/>
          <p:cNvGraphicFramePr/>
          <p:nvPr/>
        </p:nvGraphicFramePr>
        <p:xfrm>
          <a:off x="3829050" y="1438275"/>
          <a:ext cx="4324350" cy="3371850"/>
        </p:xfrm>
        <a:graphic>
          <a:graphicData uri="http://schemas.openxmlformats.org/presentationml/2006/ole">
            <mc:AlternateContent>
              <mc:Choice Requires="v">
                <p:oleObj r:id="rId4" imgH="3371850" imgW="4324350" progId="Paint.Picture" spid="_x0000_s1">
                  <p:embed/>
                </p:oleObj>
              </mc:Choice>
              <mc:Fallback>
                <p:oleObj r:id="rId5" imgH="3371850" imgW="4324350" progId="Paint.Picture">
                  <p:embed/>
                  <p:pic>
                    <p:nvPicPr>
                      <p:cNvPr id="175" name="Google Shape;175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29050" y="1438275"/>
                        <a:ext cx="4324350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Google Shape;176;p4"/>
          <p:cNvSpPr/>
          <p:nvPr/>
        </p:nvSpPr>
        <p:spPr>
          <a:xfrm>
            <a:off x="1905000" y="4868258"/>
            <a:ext cx="82296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Delay has a negative effect on the load consequently the congestion.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a packet is delayed, no ack for source, so source retransmits, making the delay and congestion worse. 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5"/>
          <p:cNvGraphicFramePr/>
          <p:nvPr/>
        </p:nvGraphicFramePr>
        <p:xfrm>
          <a:off x="3276600" y="1447800"/>
          <a:ext cx="4838700" cy="3754438"/>
        </p:xfrm>
        <a:graphic>
          <a:graphicData uri="http://schemas.openxmlformats.org/presentationml/2006/ole">
            <mc:AlternateContent>
              <mc:Choice Requires="v">
                <p:oleObj r:id="rId4" imgH="3754438" imgW="4838700" progId="Paint.Picture" spid="_x0000_s1">
                  <p:embed/>
                </p:oleObj>
              </mc:Choice>
              <mc:Fallback>
                <p:oleObj r:id="rId5" imgH="3754438" imgW="4838700" progId="Paint.Picture">
                  <p:embed/>
                  <p:pic>
                    <p:nvPicPr>
                      <p:cNvPr id="181" name="Google Shape;181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76600" y="1447800"/>
                        <a:ext cx="4838700" cy="375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" name="Google Shape;182;p5"/>
          <p:cNvSpPr/>
          <p:nvPr/>
        </p:nvSpPr>
        <p:spPr>
          <a:xfrm>
            <a:off x="2057400" y="5437615"/>
            <a:ext cx="822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does the throughput sharply decline after the load reaches capacity instead of remaining constant?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1484310" y="1905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Congestion Control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752599" y="1600201"/>
            <a:ext cx="975042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What is Congestion Control?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mechanisms and techniques to control the congestion </a:t>
            </a:r>
            <a:endParaRPr/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keep the load below the capacity.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752600" y="4143375"/>
            <a:ext cx="9750422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Two categories of Congestion Control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Open Loop  (Prevention)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Closed Loop ( Removal)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828801"/>
            <a:ext cx="79248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Control Categories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>
            <p:ph type="ctrTitle"/>
          </p:nvPr>
        </p:nvSpPr>
        <p:spPr>
          <a:xfrm>
            <a:off x="3425822" y="1550894"/>
            <a:ext cx="8077200" cy="2445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03" name="Google Shape;203;p1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1360486" y="123825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1752599" y="1447800"/>
            <a:ext cx="9839325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Retransmission /Window Policy: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Retransmission in general increases congestion. (Example-later) </a:t>
            </a:r>
            <a:endParaRPr/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Go-Back N ARQ window vs Selective Repeat window.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1752600" y="4114800"/>
            <a:ext cx="9839324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Acknowledgement Policy: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acknowledging every packet slows down sender and helps prevent congestion.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Acks are also part of the load in the network.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1484310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1752599" y="1447800"/>
            <a:ext cx="9839325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Discarding Policy: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good policy by routers may prevent congestion and at the same time may not harm the integrity of the transmission.</a:t>
            </a:r>
            <a:endParaRPr b="0" i="0" sz="5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752599" y="3779837"/>
            <a:ext cx="9750423" cy="2103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Admission Policy: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Check resource requirement before sending packet.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 no new virtual circuits.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Closed Loop</a:t>
            </a:r>
            <a:endParaRPr/>
          </a:p>
        </p:txBody>
      </p:sp>
      <p:sp>
        <p:nvSpPr>
          <p:cNvPr id="223" name="Google Shape;223;p2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950" y="1828800"/>
            <a:ext cx="8528050" cy="13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Backpressure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2057400" y="3886200"/>
            <a:ext cx="882015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node stops receiving data from upstream nodes.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Upstream nodes may get congested, they in turn reject data from their upstream nodes.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in Virtual Circuits.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50" y="1600200"/>
            <a:ext cx="8528050" cy="2338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Choke packet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2057400" y="434340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a router to source directly.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Immediate nodes are not warned.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ICMP-source quench message. Immediate routers take no action.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Implicit Signaling</a:t>
            </a:r>
            <a:endParaRPr/>
          </a:p>
        </p:txBody>
      </p:sp>
      <p:sp>
        <p:nvSpPr>
          <p:cNvPr id="245" name="Google Shape;245;p24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No communication between the congested node or nodes and the source.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Source guesses congestion by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No acknowledgement for sent packets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Delayed acknowledgements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Then source slows down.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Explicit Signaling</a:t>
            </a:r>
            <a:endParaRPr/>
          </a:p>
        </p:txBody>
      </p:sp>
      <p:sp>
        <p:nvSpPr>
          <p:cNvPr id="251" name="Google Shape;251;p2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The node experiencing congestion sends signal to the source.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Not a separate packet like the “choke”packet.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Signal included in the data packet itself.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Can be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Backward Signaling-Source warned, slows data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Forward Signaling-Receiver warned, slows acks. 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Congestion Control in TCP</a:t>
            </a:r>
            <a:endParaRPr/>
          </a:p>
        </p:txBody>
      </p:sp>
      <p:sp>
        <p:nvSpPr>
          <p:cNvPr id="257" name="Google Shape;257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3239" y="1123950"/>
            <a:ext cx="8613775" cy="271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 txBox="1"/>
          <p:nvPr/>
        </p:nvSpPr>
        <p:spPr>
          <a:xfrm>
            <a:off x="1653988" y="165847"/>
            <a:ext cx="955189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Sender Window (Review)</a:t>
            </a:r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1905000" y="4419600"/>
            <a:ext cx="8458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Sender Window Size is dictated by the receiver window.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sender window size is determined by the available buffer space in the receiver (rwnd). 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/>
          <p:nvPr/>
        </p:nvSpPr>
        <p:spPr>
          <a:xfrm>
            <a:off x="1618129" y="219635"/>
            <a:ext cx="98208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Receiver Window (Review)</a:t>
            </a:r>
            <a:endParaRPr/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076325"/>
            <a:ext cx="7824788" cy="525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Normal Flow Control (Review)</a:t>
            </a:r>
            <a:endParaRPr/>
          </a:p>
        </p:txBody>
      </p:sp>
      <p:pic>
        <p:nvPicPr>
          <p:cNvPr id="278" name="Google Shape;27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1219201"/>
            <a:ext cx="5791200" cy="5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Window</a:t>
            </a:r>
            <a:endParaRPr/>
          </a:p>
        </p:txBody>
      </p:sp>
      <p:sp>
        <p:nvSpPr>
          <p:cNvPr id="284" name="Google Shape;284;p46"/>
          <p:cNvSpPr txBox="1"/>
          <p:nvPr>
            <p:ph idx="1" type="body"/>
          </p:nvPr>
        </p:nvSpPr>
        <p:spPr>
          <a:xfrm>
            <a:off x="1484310" y="1990724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Today, TCP protocols include that the sender’s window size is not only determined by the receiver but also by congestion in the network.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Windows Size of TCP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Minimum of rwnd and cwnd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Where rwnd is the receiver advertised window size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And cwnd is the networks congestion window size</a:t>
            </a:r>
            <a:endParaRPr/>
          </a:p>
        </p:txBody>
      </p:sp>
      <p:sp>
        <p:nvSpPr>
          <p:cNvPr id="285" name="Google Shape;285;p46"/>
          <p:cNvSpPr/>
          <p:nvPr/>
        </p:nvSpPr>
        <p:spPr>
          <a:xfrm>
            <a:off x="2113867" y="5239543"/>
            <a:ext cx="8001000" cy="519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Actual window size = minimum of (rwnd,cwnd)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congestion control</a:t>
            </a:r>
            <a:endParaRPr/>
          </a:p>
        </p:txBody>
      </p:sp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TCP does congestion control in </a:t>
            </a:r>
            <a:r>
              <a:rPr lang="en-US" sz="4000">
                <a:solidFill>
                  <a:schemeClr val="accent1"/>
                </a:solidFill>
              </a:rPr>
              <a:t>three phases: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Slow Start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Avoidance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Detection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Slow Start</a:t>
            </a:r>
            <a:endParaRPr/>
          </a:p>
        </p:txBody>
      </p:sp>
      <p:sp>
        <p:nvSpPr>
          <p:cNvPr id="297" name="Google Shape;297;p49"/>
          <p:cNvSpPr txBox="1"/>
          <p:nvPr>
            <p:ph idx="1" type="body"/>
          </p:nvPr>
        </p:nvSpPr>
        <p:spPr>
          <a:xfrm>
            <a:off x="2057400" y="1600200"/>
            <a:ext cx="7772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cwnd starts with one maximum segment size(MSS).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determined during connection establishment.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increases exponentially after each acknowledgement.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1" y="1600200"/>
            <a:ext cx="61499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0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700213"/>
            <a:ext cx="6591300" cy="45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1"/>
          <p:cNvSpPr txBox="1"/>
          <p:nvPr/>
        </p:nvSpPr>
        <p:spPr>
          <a:xfrm>
            <a:off x="2116139" y="1844675"/>
            <a:ext cx="27398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MSS (max. segment size)</a:t>
            </a:r>
            <a:endParaRPr/>
          </a:p>
        </p:txBody>
      </p:sp>
      <p:cxnSp>
        <p:nvCxnSpPr>
          <p:cNvPr id="311" name="Google Shape;311;p51"/>
          <p:cNvCxnSpPr/>
          <p:nvPr/>
        </p:nvCxnSpPr>
        <p:spPr>
          <a:xfrm>
            <a:off x="3052763" y="2133601"/>
            <a:ext cx="1223962" cy="574675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12" name="Google Shape;312;p51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Google Shape;318;p52"/>
          <p:cNvCxnSpPr/>
          <p:nvPr/>
        </p:nvCxnSpPr>
        <p:spPr>
          <a:xfrm>
            <a:off x="1905000" y="40386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52"/>
          <p:cNvCxnSpPr/>
          <p:nvPr/>
        </p:nvCxnSpPr>
        <p:spPr>
          <a:xfrm>
            <a:off x="1905000" y="62484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52"/>
          <p:cNvSpPr/>
          <p:nvPr/>
        </p:nvSpPr>
        <p:spPr>
          <a:xfrm>
            <a:off x="1981200" y="4112449"/>
            <a:ext cx="8077200" cy="206210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slow-start algorithm, the size of the congestion window increases exponentially until it reaches a threshold.</a:t>
            </a:r>
            <a:endParaRPr/>
          </a:p>
        </p:txBody>
      </p:sp>
      <p:sp>
        <p:nvSpPr>
          <p:cNvPr id="321" name="Google Shape;321;p52"/>
          <p:cNvSpPr txBox="1"/>
          <p:nvPr/>
        </p:nvSpPr>
        <p:spPr>
          <a:xfrm>
            <a:off x="2057400" y="1447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Assumptions: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rwnd&gt;cwnd , so sender window=cwnd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segment 1 byte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segment is acknowledged individually*.</a:t>
            </a:r>
            <a:endParaRPr/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2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53"/>
          <p:cNvCxnSpPr/>
          <p:nvPr/>
        </p:nvCxnSpPr>
        <p:spPr>
          <a:xfrm>
            <a:off x="2428875" y="4449762"/>
            <a:ext cx="84582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53"/>
          <p:cNvCxnSpPr/>
          <p:nvPr/>
        </p:nvCxnSpPr>
        <p:spPr>
          <a:xfrm>
            <a:off x="2352675" y="6583362"/>
            <a:ext cx="85344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53"/>
          <p:cNvSpPr/>
          <p:nvPr/>
        </p:nvSpPr>
        <p:spPr>
          <a:xfrm>
            <a:off x="2314575" y="4627562"/>
            <a:ext cx="8610600" cy="1816100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Sender keeps track of a variable named </a:t>
            </a:r>
            <a:r>
              <a:rPr b="1" i="1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window reaches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next phase starts.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implementation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65,535 bytes.</a:t>
            </a:r>
            <a:endParaRPr/>
          </a:p>
        </p:txBody>
      </p:sp>
      <p:pic>
        <p:nvPicPr>
          <p:cNvPr id="331" name="Google Shape;33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990600"/>
            <a:ext cx="6324600" cy="333533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3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p54"/>
          <p:cNvCxnSpPr/>
          <p:nvPr/>
        </p:nvCxnSpPr>
        <p:spPr>
          <a:xfrm>
            <a:off x="1981200" y="22860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54"/>
          <p:cNvCxnSpPr/>
          <p:nvPr/>
        </p:nvCxnSpPr>
        <p:spPr>
          <a:xfrm>
            <a:off x="1982788" y="44958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54"/>
          <p:cNvSpPr/>
          <p:nvPr/>
        </p:nvSpPr>
        <p:spPr>
          <a:xfrm>
            <a:off x="2019300" y="2378076"/>
            <a:ext cx="8077200" cy="206216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algorithm, the size of the congestion window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increases additively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until 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congestion is detected.</a:t>
            </a:r>
            <a:endParaRPr/>
          </a:p>
        </p:txBody>
      </p:sp>
      <p:sp>
        <p:nvSpPr>
          <p:cNvPr id="341" name="Google Shape;341;p5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714" y="1476376"/>
            <a:ext cx="5856287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5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524000"/>
            <a:ext cx="57150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68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" name="Google Shape;360;p74"/>
          <p:cNvCxnSpPr/>
          <p:nvPr/>
        </p:nvCxnSpPr>
        <p:spPr>
          <a:xfrm>
            <a:off x="2038350" y="20574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74"/>
          <p:cNvCxnSpPr/>
          <p:nvPr/>
        </p:nvCxnSpPr>
        <p:spPr>
          <a:xfrm>
            <a:off x="2038350" y="52578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74"/>
          <p:cNvSpPr/>
          <p:nvPr/>
        </p:nvSpPr>
        <p:spPr>
          <a:xfrm>
            <a:off x="1943100" y="2149476"/>
            <a:ext cx="8343900" cy="304641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implementation reacts to congestion detection in one of the following ways: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detection is by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time-out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new </a:t>
            </a: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slow</a:t>
            </a:r>
            <a:b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start phase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detection is by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three ACKs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new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starts.</a:t>
            </a:r>
            <a:endParaRPr/>
          </a:p>
        </p:txBody>
      </p:sp>
      <p:sp>
        <p:nvSpPr>
          <p:cNvPr id="363" name="Google Shape;363;p7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Detection: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5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Policy:</a:t>
            </a:r>
            <a:endParaRPr/>
          </a:p>
        </p:txBody>
      </p:sp>
      <p:pic>
        <p:nvPicPr>
          <p:cNvPr id="370" name="Google Shape;37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150" y="1700213"/>
            <a:ext cx="8401050" cy="437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6" y="1524000"/>
            <a:ext cx="8378825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77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Example: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07f41303d_0_4"/>
          <p:cNvSpPr txBox="1"/>
          <p:nvPr/>
        </p:nvSpPr>
        <p:spPr>
          <a:xfrm>
            <a:off x="1566450" y="438100"/>
            <a:ext cx="991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accent1"/>
                </a:solidFill>
              </a:rPr>
              <a:t>AIMD</a:t>
            </a:r>
            <a:r>
              <a:rPr b="0" i="0" lang="en-US" sz="35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500" u="sng">
                <a:solidFill>
                  <a:schemeClr val="accent1"/>
                </a:solidFill>
              </a:rPr>
              <a:t>Additive Increase Multiplicative Decrease</a:t>
            </a:r>
            <a:endParaRPr sz="900"/>
          </a:p>
        </p:txBody>
      </p:sp>
      <p:pic>
        <p:nvPicPr>
          <p:cNvPr id="384" name="Google Shape;384;g3a07f41303d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188" y="1471613"/>
            <a:ext cx="9496425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390" name="Google Shape;390;p10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