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59" r:id="rId6"/>
    <p:sldId id="264" r:id="rId7"/>
    <p:sldId id="266" r:id="rId8"/>
    <p:sldId id="280" r:id="rId9"/>
    <p:sldId id="281" r:id="rId10"/>
    <p:sldId id="282" r:id="rId11"/>
    <p:sldId id="285" r:id="rId12"/>
    <p:sldId id="284" r:id="rId13"/>
    <p:sldId id="273" r:id="rId14"/>
    <p:sldId id="274" r:id="rId15"/>
    <p:sldId id="275" r:id="rId16"/>
    <p:sldId id="261" r:id="rId17"/>
    <p:sldId id="262" r:id="rId18"/>
    <p:sldId id="279" r:id="rId19"/>
  </p:sldIdLst>
  <p:sldSz cx="12192000" cy="6858000"/>
  <p:notesSz cx="6858000" cy="9144000"/>
  <p:embeddedFontLst>
    <p:embeddedFont>
      <p:font typeface="Corbel" panose="020B0503020204020204" pitchFamily="34" charset="0"/>
      <p:regular r:id="rId21"/>
      <p:bold r:id="rId22"/>
      <p:italic r:id="rId23"/>
      <p:boldItalic r:id="rId24"/>
    </p:embeddedFont>
    <p:embeddedFont>
      <p:font typeface="Nirmala UI" panose="020B0502040204020203" pitchFamily="3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Nf9NGSvVw1/7vCmi/sRjt7Msn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000593-0C7B-49D4-ACC7-35B609015B18}">
  <a:tblStyle styleId="{67000593-0C7B-49D4-ACC7-35B609015B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EAF9"/>
          </a:solidFill>
        </a:fill>
      </a:tcStyle>
    </a:wholeTbl>
    <a:band1H>
      <a:tcTxStyle b="off" i="off"/>
      <a:tcStyle>
        <a:tcBdr/>
        <a:fill>
          <a:solidFill>
            <a:srgbClr val="E0D2F4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0D2F4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17D1AB6-CFBA-4735-A6E7-EE624F7017F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F4E8"/>
          </a:solidFill>
        </a:fill>
      </a:tcStyle>
    </a:wholeTbl>
    <a:band1H>
      <a:tcTxStyle b="off" i="off"/>
      <a:tcStyle>
        <a:tcBdr/>
        <a:fill>
          <a:solidFill>
            <a:srgbClr val="D7E9C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7E9C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69"/>
  </p:normalViewPr>
  <p:slideViewPr>
    <p:cSldViewPr snapToGrid="0">
      <p:cViewPr varScale="1">
        <p:scale>
          <a:sx n="88" d="100"/>
          <a:sy n="88" d="100"/>
        </p:scale>
        <p:origin x="1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54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1" name="Google Shape;161;p54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6.1.1.1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rPr lang="en-US"/>
              <a:t>If there is no dynamic routing protocols</a:t>
            </a:r>
            <a:endParaRPr/>
          </a:p>
        </p:txBody>
      </p:sp>
      <p:sp>
        <p:nvSpPr>
          <p:cNvPr id="168" name="Google Shape;168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58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5" name="Google Shape;225;p58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number of routes advertised by summarizing several contiguous networks as one static route</a:t>
            </a:r>
            <a:endParaRPr/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60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p60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6.2.1.1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13B3ECBE-95B8-C5A3-5EE3-A4024EA1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0:notes">
            <a:extLst>
              <a:ext uri="{FF2B5EF4-FFF2-40B4-BE49-F238E27FC236}">
                <a16:creationId xmlns:a16="http://schemas.microsoft.com/office/drawing/2014/main" id="{FAC64CBD-E0A8-422D-2B08-FDEACB86EE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60:notes">
            <a:extLst>
              <a:ext uri="{FF2B5EF4-FFF2-40B4-BE49-F238E27FC236}">
                <a16:creationId xmlns:a16="http://schemas.microsoft.com/office/drawing/2014/main" id="{C58B20AE-825C-6885-1760-EB3059C990EB}"/>
              </a:ext>
            </a:extLst>
          </p:cNvPr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0:notes">
            <a:extLst>
              <a:ext uri="{FF2B5EF4-FFF2-40B4-BE49-F238E27FC236}">
                <a16:creationId xmlns:a16="http://schemas.microsoft.com/office/drawing/2014/main" id="{73E10BCB-8E68-5994-0C35-46C82EF68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p60:notes">
            <a:extLst>
              <a:ext uri="{FF2B5EF4-FFF2-40B4-BE49-F238E27FC236}">
                <a16:creationId xmlns:a16="http://schemas.microsoft.com/office/drawing/2014/main" id="{429ECAD6-D9C2-4C27-5341-B4AEE1A8F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6.2.1.1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7091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2129da5eb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g32129da5e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2129da5eb9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g32129da5eb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56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2" name="Google Shape;202;p56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 of static routing</a:t>
            </a:r>
            <a:endParaRPr/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most secure way of routing, since no information is shared with other routers.</a:t>
            </a:r>
            <a:endParaRPr/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puts no overhead on resources such as CPU or memory.</a:t>
            </a:r>
            <a:endParaRPr/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routing algorithm or update mechanisms are required. Therefore, extra resources (CPU and memory) are not required.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easy to implement.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3248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57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p57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48439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7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Google Shape;25;p37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Google Shape;26;p37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Google Shape;27;p37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Google Shape;28;p37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Google Shape;29;p37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Google Shape;30;p37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7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8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4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5" name="Google Shape;75;p44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4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5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5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5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4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6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6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46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4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7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7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4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8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8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48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4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9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9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4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0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0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50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5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5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1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51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51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5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2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5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3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3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5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6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Google Shape;12;p36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Google Shape;17;p3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IPv4 Static Routing</a:t>
            </a:r>
            <a:endParaRPr/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11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>
            <a:spLocks noGrp="1"/>
          </p:cNvSpPr>
          <p:nvPr>
            <p:ph type="body" idx="1"/>
          </p:nvPr>
        </p:nvSpPr>
        <p:spPr>
          <a:xfrm>
            <a:off x="1484310" y="1066800"/>
            <a:ext cx="10018713" cy="5414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lang="en-US" sz="3800"/>
              <a:t>Static Routing</a:t>
            </a:r>
            <a:endParaRPr sz="3800"/>
          </a:p>
          <a:p>
            <a:pPr marL="457200" lvl="0" indent="-431800" algn="l" rtl="0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Standard static routing</a:t>
            </a:r>
            <a:endParaRPr sz="3200"/>
          </a:p>
          <a:p>
            <a:pPr marL="914400" lvl="1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Directly Attached / Connected</a:t>
            </a:r>
            <a:endParaRPr sz="3000"/>
          </a:p>
          <a:p>
            <a:pPr marL="914400" lvl="1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Next Hop / Recursive</a:t>
            </a:r>
            <a:endParaRPr sz="3000"/>
          </a:p>
          <a:p>
            <a:pPr marL="45720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Default Routing</a:t>
            </a:r>
            <a:endParaRPr sz="3200"/>
          </a:p>
          <a:p>
            <a:pPr marL="45720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Floating Static Routing</a:t>
            </a: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endParaRPr sz="340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4"/>
          <p:cNvSpPr txBox="1"/>
          <p:nvPr/>
        </p:nvSpPr>
        <p:spPr>
          <a:xfrm>
            <a:off x="1624987" y="1283677"/>
            <a:ext cx="9954482" cy="4333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075" tIns="41025" rIns="82075" bIns="41025" anchor="t" anchorCtr="0">
            <a:noAutofit/>
          </a:bodyPr>
          <a:lstStyle/>
          <a:p>
            <a:pPr marL="460375" marR="0" lvl="0" indent="-341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bel" panose="020B0503020204020204" pitchFamily="34" charset="0"/>
                <a:sym typeface="Arial"/>
              </a:rPr>
              <a:t>A router can learn about remote networks in one of two ways:</a:t>
            </a:r>
            <a:endParaRPr sz="1800" b="0" i="0" u="none" strike="noStrike" cap="none" dirty="0">
              <a:solidFill>
                <a:srgbClr val="000000"/>
              </a:solidFill>
              <a:latin typeface="Corbel" panose="020B0503020204020204" pitchFamily="34" charset="0"/>
              <a:sym typeface="Arial"/>
            </a:endParaRPr>
          </a:p>
          <a:p>
            <a:pPr marL="460375" marR="0" lvl="0" indent="-341313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7D28CD"/>
                </a:solidFill>
                <a:latin typeface="Corbel" panose="020B0503020204020204" pitchFamily="34" charset="0"/>
                <a:sym typeface="Arial"/>
              </a:rPr>
              <a:t>Manually</a:t>
            </a:r>
            <a:r>
              <a:rPr lang="en-US" sz="3600" b="0" i="0" u="none" strike="noStrike" cap="none" dirty="0">
                <a:solidFill>
                  <a:schemeClr val="accent4"/>
                </a:solidFill>
                <a:latin typeface="Corbel" panose="020B0503020204020204" pitchFamily="34" charset="0"/>
                <a:sym typeface="Arial"/>
              </a:rPr>
              <a:t>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bel" panose="020B0503020204020204" pitchFamily="34" charset="0"/>
                <a:sym typeface="Arial"/>
              </a:rPr>
              <a:t>- Remote networks are manually entered into the route table using static routes.</a:t>
            </a:r>
            <a:endParaRPr sz="1800" b="0" i="0" u="none" strike="noStrike" cap="none" dirty="0">
              <a:solidFill>
                <a:srgbClr val="000000"/>
              </a:solidFill>
              <a:latin typeface="Corbel" panose="020B0503020204020204" pitchFamily="34" charset="0"/>
              <a:sym typeface="Arial"/>
            </a:endParaRPr>
          </a:p>
          <a:p>
            <a:pPr marL="460375" marR="0" lvl="0" indent="-341313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7D28CD"/>
                </a:solidFill>
                <a:latin typeface="Corbel" panose="020B0503020204020204" pitchFamily="34" charset="0"/>
                <a:sym typeface="Arial"/>
              </a:rPr>
              <a:t>Dynamically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bel" panose="020B0503020204020204" pitchFamily="34" charset="0"/>
                <a:sym typeface="Arial"/>
              </a:rPr>
              <a:t> - Remote networks are automatically learned using a dynamic routing protocol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Learning About Networks</a:t>
            </a:r>
            <a:endParaRPr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86826" y="1230349"/>
            <a:ext cx="10245722" cy="5081954"/>
            <a:chOff x="1086826" y="1230349"/>
            <a:chExt cx="10245722" cy="5081954"/>
          </a:xfrm>
        </p:grpSpPr>
        <p:pic>
          <p:nvPicPr>
            <p:cNvPr id="178" name="Google Shape;178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6826" y="1230349"/>
              <a:ext cx="10245722" cy="50819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3"/>
            <p:cNvSpPr txBox="1"/>
            <p:nvPr/>
          </p:nvSpPr>
          <p:spPr>
            <a:xfrm>
              <a:off x="7703403" y="1451597"/>
              <a:ext cx="168946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20.20.20.0/30</a:t>
              </a:r>
              <a:endParaRPr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  <p:pic>
        <p:nvPicPr>
          <p:cNvPr id="177" name="Google Shape;17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" name="Google Shape;179;p3"/>
          <p:cNvGraphicFramePr/>
          <p:nvPr/>
        </p:nvGraphicFramePr>
        <p:xfrm>
          <a:off x="1501011" y="998562"/>
          <a:ext cx="2065225" cy="1989600"/>
        </p:xfrm>
        <a:graphic>
          <a:graphicData uri="http://schemas.openxmlformats.org/drawingml/2006/table">
            <a:tbl>
              <a:tblPr firstRow="1" bandRow="1">
                <a:noFill/>
                <a:tableStyleId>{67000593-0C7B-49D4-ACC7-35B609015B18}</a:tableStyleId>
              </a:tblPr>
              <a:tblGrid>
                <a:gridCol w="140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Network</a:t>
                      </a:r>
                      <a:endParaRPr sz="10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Exit Int</a:t>
                      </a:r>
                      <a:endParaRPr sz="10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192.168.10.0/24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G0/0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192.168.11.0/24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G0/1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209.165.200.224/30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S0/0/0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5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5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0" name="Google Shape;180;p3"/>
          <p:cNvGraphicFramePr/>
          <p:nvPr/>
        </p:nvGraphicFramePr>
        <p:xfrm>
          <a:off x="5112114" y="1338994"/>
          <a:ext cx="2065225" cy="2321200"/>
        </p:xfrm>
        <a:graphic>
          <a:graphicData uri="http://schemas.openxmlformats.org/drawingml/2006/table">
            <a:tbl>
              <a:tblPr firstRow="1" bandRow="1">
                <a:noFill/>
                <a:tableStyleId>{917D1AB6-CFBA-4735-A6E7-EE624F7017F5}</a:tableStyleId>
              </a:tblPr>
              <a:tblGrid>
                <a:gridCol w="140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Network</a:t>
                      </a:r>
                      <a:endParaRPr sz="10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Exit Int</a:t>
                      </a:r>
                      <a:endParaRPr sz="10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10.1.1.0/24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G0/0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10.1.2.0/24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G0/1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209.165.200.224/30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/>
                        <a:t>S0/0/0</a:t>
                      </a:r>
                      <a:endParaRPr sz="105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/>
                        <a:t>220.20.20.0/30</a:t>
                      </a:r>
                      <a:endParaRPr sz="105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/>
                        <a:t>G0/2</a:t>
                      </a:r>
                      <a:endParaRPr sz="105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5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5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5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endParaRPr sz="105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3598902" y="1351349"/>
            <a:ext cx="1485250" cy="877603"/>
            <a:chOff x="3598902" y="1351349"/>
            <a:chExt cx="1485250" cy="877603"/>
          </a:xfrm>
        </p:grpSpPr>
        <p:sp>
          <p:nvSpPr>
            <p:cNvPr id="181" name="Google Shape;181;p3"/>
            <p:cNvSpPr txBox="1"/>
            <p:nvPr/>
          </p:nvSpPr>
          <p:spPr>
            <a:xfrm>
              <a:off x="3815741" y="1586174"/>
              <a:ext cx="12684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Directly connected </a:t>
              </a:r>
              <a:endParaRPr sz="1200" b="1" i="0" u="none" strike="noStrike" cap="none" dirty="0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598902" y="1351349"/>
              <a:ext cx="232996" cy="877603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3"/>
          <p:cNvSpPr txBox="1"/>
          <p:nvPr/>
        </p:nvSpPr>
        <p:spPr>
          <a:xfrm>
            <a:off x="7437128" y="2060936"/>
            <a:ext cx="12684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Directly connected </a:t>
            </a:r>
            <a:endParaRPr sz="1200" b="1" i="0" u="none" strike="noStrike" cap="non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7169948" y="1683210"/>
            <a:ext cx="287460" cy="115498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6210600" y="4651483"/>
            <a:ext cx="8176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619443" y="3554589"/>
            <a:ext cx="8176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1987589" y="698010"/>
            <a:ext cx="126841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Table of R1</a:t>
            </a:r>
            <a:endParaRPr sz="1200" b="1" i="0" u="none" strike="noStrike" cap="non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5632008" y="1036945"/>
            <a:ext cx="126841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Table of R2</a:t>
            </a:r>
            <a:endParaRPr sz="1200" b="1" i="0" u="none" strike="noStrike" cap="non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1653309" y="2352856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10.1.1.0/24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2891266" y="2334005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69502" y="2670542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10.1.2.0/24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2891266" y="2685931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5224783" y="3041713"/>
            <a:ext cx="13021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192.168.10.0/24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6554849" y="3030020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5228062" y="3350992"/>
            <a:ext cx="129882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192.168.11.0/24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6554849" y="3292979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5"/>
          <p:cNvSpPr txBox="1">
            <a:spLocks noGrp="1"/>
          </p:cNvSpPr>
          <p:nvPr>
            <p:ph type="body" idx="1"/>
          </p:nvPr>
        </p:nvSpPr>
        <p:spPr>
          <a:xfrm>
            <a:off x="1369216" y="1339361"/>
            <a:ext cx="10248900" cy="439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Manually configured route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Used to reach networks not directly connected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Does not update automatically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Changes must be applied manually</a:t>
            </a:r>
          </a:p>
        </p:txBody>
      </p:sp>
      <p:sp>
        <p:nvSpPr>
          <p:cNvPr id="171" name="Google Shape;171;p5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Static Route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8"/>
          <p:cNvSpPr txBox="1"/>
          <p:nvPr/>
        </p:nvSpPr>
        <p:spPr>
          <a:xfrm>
            <a:off x="1634694" y="1389785"/>
            <a:ext cx="9689088" cy="515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075" tIns="41025" rIns="82075" bIns="410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bel" panose="020B0503020204020204" pitchFamily="34" charset="0"/>
                <a:sym typeface="Arial"/>
              </a:rPr>
              <a:t>Static Routes are often used to: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 panose="020B0604020202020204" pitchFamily="34" charset="0"/>
              <a:buChar char="•"/>
            </a:pPr>
            <a:endParaRPr sz="2000" b="0" i="0" u="none" strike="noStrike" cap="none" dirty="0">
              <a:solidFill>
                <a:srgbClr val="000000"/>
              </a:solidFill>
              <a:latin typeface="Corbel" panose="020B0503020204020204" pitchFamily="34" charset="0"/>
              <a:sym typeface="Arial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Reach a </a:t>
            </a:r>
            <a:r>
              <a:rPr lang="en-US" altLang="en-US" sz="36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specific remote network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Set a </a:t>
            </a:r>
            <a:r>
              <a:rPr lang="en-US" altLang="en-US" sz="36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default route</a:t>
            </a:r>
            <a:r>
              <a:rPr lang="en-US" altLang="en-US" sz="3600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(gateway of last resort)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Provide </a:t>
            </a:r>
            <a:r>
              <a:rPr lang="en-US" altLang="en-US" sz="36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a backup path </a:t>
            </a: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(floating static route)</a:t>
            </a: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Reduce routing table entries (</a:t>
            </a:r>
            <a:r>
              <a:rPr lang="en-US" altLang="en-US" sz="36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summarization</a:t>
            </a: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)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 panose="020B0604020202020204" pitchFamily="34" charset="0"/>
              <a:buChar char="•"/>
            </a:pPr>
            <a:endParaRPr sz="3600" b="0" i="0" u="none" strike="noStrike" cap="none" dirty="0">
              <a:solidFill>
                <a:srgbClr val="000000"/>
              </a:solidFill>
              <a:latin typeface="Corbel" panose="020B0503020204020204" pitchFamily="34" charset="0"/>
              <a:sym typeface="Arial"/>
            </a:endParaRPr>
          </a:p>
        </p:txBody>
      </p:sp>
      <p:sp>
        <p:nvSpPr>
          <p:cNvPr id="228" name="Google Shape;228;p58"/>
          <p:cNvSpPr txBox="1"/>
          <p:nvPr/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Route Types</a:t>
            </a:r>
            <a:endParaRPr sz="40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0"/>
          <p:cNvSpPr txBox="1">
            <a:spLocks noGrp="1"/>
          </p:cNvSpPr>
          <p:nvPr>
            <p:ph type="title"/>
          </p:nvPr>
        </p:nvSpPr>
        <p:spPr>
          <a:xfrm>
            <a:off x="2048453" y="233506"/>
            <a:ext cx="84566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Static Route : How??</a:t>
            </a:r>
            <a:endParaRPr dirty="0"/>
          </a:p>
        </p:txBody>
      </p:sp>
      <p:sp>
        <p:nvSpPr>
          <p:cNvPr id="249" name="Google Shape;249;p60"/>
          <p:cNvSpPr txBox="1"/>
          <p:nvPr/>
        </p:nvSpPr>
        <p:spPr>
          <a:xfrm>
            <a:off x="1948510" y="4933452"/>
            <a:ext cx="143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R1(</a:t>
            </a:r>
            <a:r>
              <a:rPr lang="en-US" sz="1600" b="1" i="0" u="none" strike="noStrike" cap="none" dirty="0" err="1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r>
              <a:rPr lang="en-US" sz="1600" b="1" i="0" u="none" strike="noStrike" cap="none" dirty="0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)#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479265" y="984971"/>
            <a:ext cx="7172735" cy="3688629"/>
            <a:chOff x="1086826" y="1230349"/>
            <a:chExt cx="10245722" cy="5081954"/>
          </a:xfrm>
        </p:grpSpPr>
        <p:pic>
          <p:nvPicPr>
            <p:cNvPr id="6" name="Google Shape;178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6826" y="1230349"/>
              <a:ext cx="10245722" cy="50819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85;p3"/>
            <p:cNvSpPr txBox="1"/>
            <p:nvPr/>
          </p:nvSpPr>
          <p:spPr>
            <a:xfrm>
              <a:off x="7294405" y="1395778"/>
              <a:ext cx="2111897" cy="423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20.20.20.0/30</a:t>
              </a:r>
              <a:endParaRPr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" name="Google Shape;249;p60"/>
          <p:cNvSpPr txBox="1"/>
          <p:nvPr/>
        </p:nvSpPr>
        <p:spPr>
          <a:xfrm>
            <a:off x="3086608" y="5292906"/>
            <a:ext cx="1076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rgbClr val="0070C0"/>
                </a:solidFill>
              </a:rPr>
              <a:t>i</a:t>
            </a:r>
            <a:r>
              <a:rPr lang="en-US" sz="16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route</a:t>
            </a:r>
            <a:endParaRPr sz="1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49;p60"/>
          <p:cNvSpPr txBox="1"/>
          <p:nvPr/>
        </p:nvSpPr>
        <p:spPr>
          <a:xfrm>
            <a:off x="4403158" y="4956537"/>
            <a:ext cx="150531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Parameter 1</a:t>
            </a:r>
            <a:endParaRPr sz="1400" b="0" i="0" u="none" strike="noStrike" cap="none" dirty="0">
              <a:solidFill>
                <a:schemeClr val="accent2">
                  <a:lumMod val="75000"/>
                </a:schemeClr>
              </a:solidFill>
              <a:sym typeface="Arial"/>
            </a:endParaRPr>
          </a:p>
        </p:txBody>
      </p:sp>
      <p:sp>
        <p:nvSpPr>
          <p:cNvPr id="2" name="Oval 1"/>
          <p:cNvSpPr/>
          <p:nvPr/>
        </p:nvSpPr>
        <p:spPr>
          <a:xfrm>
            <a:off x="7278255" y="2078182"/>
            <a:ext cx="1025235" cy="4802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7356764" y="4083090"/>
            <a:ext cx="1025235" cy="4802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4327237" y="3089564"/>
            <a:ext cx="1025235" cy="4802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Google Shape;249;p60"/>
          <p:cNvSpPr txBox="1"/>
          <p:nvPr/>
        </p:nvSpPr>
        <p:spPr>
          <a:xfrm>
            <a:off x="5814294" y="4956537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Parameter 2</a:t>
            </a:r>
            <a:endParaRPr sz="1400" b="0" i="0" u="none" strike="noStrike" cap="none" dirty="0">
              <a:solidFill>
                <a:schemeClr val="accent6">
                  <a:lumMod val="75000"/>
                </a:schemeClr>
              </a:solidFill>
              <a:sym typeface="Arial"/>
            </a:endParaRPr>
          </a:p>
        </p:txBody>
      </p:sp>
      <p:sp>
        <p:nvSpPr>
          <p:cNvPr id="14" name="Google Shape;249;p60"/>
          <p:cNvSpPr txBox="1"/>
          <p:nvPr/>
        </p:nvSpPr>
        <p:spPr>
          <a:xfrm>
            <a:off x="7218218" y="5339052"/>
            <a:ext cx="245225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Exit interface or next hop IP address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Google Shape;249;p60"/>
          <p:cNvSpPr txBox="1"/>
          <p:nvPr/>
        </p:nvSpPr>
        <p:spPr>
          <a:xfrm>
            <a:off x="4040729" y="5282146"/>
            <a:ext cx="186774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The remote network address</a:t>
            </a:r>
            <a:endParaRPr sz="1400" b="0" i="0" u="none" strike="noStrike" cap="none" dirty="0">
              <a:solidFill>
                <a:schemeClr val="accent2">
                  <a:lumMod val="75000"/>
                </a:schemeClr>
              </a:solidFill>
              <a:sym typeface="Arial"/>
            </a:endParaRPr>
          </a:p>
        </p:txBody>
      </p:sp>
      <p:sp>
        <p:nvSpPr>
          <p:cNvPr id="16" name="Google Shape;249;p60"/>
          <p:cNvSpPr txBox="1"/>
          <p:nvPr/>
        </p:nvSpPr>
        <p:spPr>
          <a:xfrm>
            <a:off x="3175521" y="4940619"/>
            <a:ext cx="120285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0070C0"/>
                </a:solidFill>
              </a:rPr>
              <a:t>command</a:t>
            </a:r>
            <a:endParaRPr sz="1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49;p60"/>
          <p:cNvSpPr txBox="1"/>
          <p:nvPr/>
        </p:nvSpPr>
        <p:spPr>
          <a:xfrm>
            <a:off x="5740404" y="5392649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Subnet Mask</a:t>
            </a:r>
            <a:endParaRPr sz="1400" b="0" i="0" u="none" strike="noStrike" cap="none" dirty="0">
              <a:solidFill>
                <a:schemeClr val="accent6">
                  <a:lumMod val="75000"/>
                </a:schemeClr>
              </a:solidFill>
              <a:sym typeface="Arial"/>
            </a:endParaRPr>
          </a:p>
        </p:txBody>
      </p:sp>
      <p:sp>
        <p:nvSpPr>
          <p:cNvPr id="18" name="Google Shape;249;p60"/>
          <p:cNvSpPr txBox="1"/>
          <p:nvPr/>
        </p:nvSpPr>
        <p:spPr>
          <a:xfrm>
            <a:off x="7278255" y="4957771"/>
            <a:ext cx="225598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Parameter 3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Google Shape;249;p60"/>
          <p:cNvSpPr txBox="1"/>
          <p:nvPr/>
        </p:nvSpPr>
        <p:spPr>
          <a:xfrm>
            <a:off x="4040728" y="5933186"/>
            <a:ext cx="186774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10.1.1.0</a:t>
            </a:r>
            <a:endParaRPr sz="1400" b="0" i="0" u="none" strike="noStrike" cap="none" dirty="0">
              <a:solidFill>
                <a:schemeClr val="accent2">
                  <a:lumMod val="75000"/>
                </a:schemeClr>
              </a:solidFill>
              <a:sym typeface="Arial"/>
            </a:endParaRPr>
          </a:p>
        </p:txBody>
      </p:sp>
      <p:sp>
        <p:nvSpPr>
          <p:cNvPr id="20" name="Google Shape;249;p60"/>
          <p:cNvSpPr txBox="1"/>
          <p:nvPr/>
        </p:nvSpPr>
        <p:spPr>
          <a:xfrm>
            <a:off x="3086608" y="5918033"/>
            <a:ext cx="1076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rgbClr val="0070C0"/>
                </a:solidFill>
              </a:rPr>
              <a:t>i</a:t>
            </a:r>
            <a:r>
              <a:rPr lang="en-US" sz="16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route</a:t>
            </a:r>
            <a:endParaRPr sz="1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49;p60"/>
          <p:cNvSpPr txBox="1"/>
          <p:nvPr/>
        </p:nvSpPr>
        <p:spPr>
          <a:xfrm>
            <a:off x="5740404" y="5933186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255.255.255.0</a:t>
            </a:r>
            <a:endParaRPr sz="1400" b="0" i="0" u="none" strike="noStrike" cap="none" dirty="0">
              <a:solidFill>
                <a:schemeClr val="accent6">
                  <a:lumMod val="75000"/>
                </a:schemeClr>
              </a:solidFill>
              <a:sym typeface="Arial"/>
            </a:endParaRPr>
          </a:p>
        </p:txBody>
      </p:sp>
      <p:sp>
        <p:nvSpPr>
          <p:cNvPr id="22" name="Google Shape;249;p60"/>
          <p:cNvSpPr txBox="1"/>
          <p:nvPr/>
        </p:nvSpPr>
        <p:spPr>
          <a:xfrm>
            <a:off x="7241495" y="5942585"/>
            <a:ext cx="12282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S0/0/0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Google Shape;249;p60"/>
          <p:cNvSpPr txBox="1"/>
          <p:nvPr/>
        </p:nvSpPr>
        <p:spPr>
          <a:xfrm>
            <a:off x="7924982" y="5942585"/>
            <a:ext cx="223781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209.165.200.226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4" name="Google Shape;249;p60"/>
          <p:cNvSpPr txBox="1"/>
          <p:nvPr/>
        </p:nvSpPr>
        <p:spPr>
          <a:xfrm>
            <a:off x="1661069" y="5902880"/>
            <a:ext cx="143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R1(</a:t>
            </a:r>
            <a:r>
              <a:rPr lang="en-US" sz="1600" b="1" i="0" u="none" strike="noStrike" cap="none" dirty="0" err="1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r>
              <a:rPr lang="en-US" sz="1600" b="1" i="0" u="none" strike="noStrike" cap="none" dirty="0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)#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8" grpId="0"/>
      <p:bldP spid="9" grpId="0"/>
      <p:bldP spid="2" grpId="0" animBg="1"/>
      <p:bldP spid="2" grpId="1" animBg="1"/>
      <p:bldP spid="11" grpId="0" animBg="1"/>
      <p:bldP spid="11" grpId="1" animBg="1"/>
      <p:bldP spid="12" grpId="0" animBg="1"/>
      <p:bldP spid="12" grpId="1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2" grpId="1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418" y="288636"/>
            <a:ext cx="10018713" cy="708891"/>
          </a:xfrm>
        </p:spPr>
        <p:txBody>
          <a:bodyPr>
            <a:normAutofit fontScale="90000"/>
          </a:bodyPr>
          <a:lstStyle/>
          <a:p>
            <a:r>
              <a:rPr lang="en-IN" dirty="0"/>
              <a:t>Routing Table of R1 after the static route command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8965" y="1407966"/>
            <a:ext cx="8592563" cy="2522684"/>
          </a:xfrm>
          <a:solidFill>
            <a:schemeClr val="bg1"/>
          </a:solidFill>
        </p:spPr>
        <p:txBody>
          <a:bodyPr/>
          <a:lstStyle/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R1# show </a:t>
            </a:r>
            <a:r>
              <a:rPr lang="en-US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ip</a:t>
            </a: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route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192.168.10.0/24 is directly connected, GigabitEthernet0/0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192.168.11.0/24 is directly connected, GigabitEthernet0/1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209.165.200.224/30 is directly connected, Serial0/0/0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 10.1.1.0/24 is directly connected, Serial0/0/0</a:t>
            </a:r>
            <a:endParaRPr lang="en-IN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1548965" y="4416837"/>
            <a:ext cx="8527908" cy="2429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943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943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R1# show </a:t>
            </a:r>
            <a:r>
              <a:rPr lang="en-US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ip</a:t>
            </a: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route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192.168.10.0/24 is directly connected, GigabitEthernet0/0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192.168.11.0/24 is directly connected, GigabitEthernet0/1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209.165.200.224/30 is directly connected, Serial0/0/0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 10.1.1.0/24 [1/0] via 209.165.200.226</a:t>
            </a:r>
            <a:endParaRPr lang="en-IN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5" name="Google Shape;249;p60"/>
          <p:cNvSpPr txBox="1"/>
          <p:nvPr/>
        </p:nvSpPr>
        <p:spPr>
          <a:xfrm>
            <a:off x="1548965" y="934061"/>
            <a:ext cx="38654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Using Exit interface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6" name="Google Shape;249;p60"/>
          <p:cNvSpPr txBox="1"/>
          <p:nvPr/>
        </p:nvSpPr>
        <p:spPr>
          <a:xfrm>
            <a:off x="1548964" y="3930650"/>
            <a:ext cx="439925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Using next hop IP address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08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418" y="288636"/>
            <a:ext cx="10018713" cy="708891"/>
          </a:xfrm>
        </p:spPr>
        <p:txBody>
          <a:bodyPr>
            <a:normAutofit/>
          </a:bodyPr>
          <a:lstStyle/>
          <a:p>
            <a:r>
              <a:rPr lang="en-IN" dirty="0"/>
              <a:t>Recursive Lookup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1410418" y="1165634"/>
            <a:ext cx="7188638" cy="2429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943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943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62865" indent="0">
              <a:buNone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R1# show </a:t>
            </a:r>
            <a:r>
              <a:rPr lang="en-US" sz="2000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ip</a:t>
            </a: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route</a:t>
            </a:r>
          </a:p>
          <a:p>
            <a:pPr marL="62865" indent="0">
              <a:buNone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192.168.10.0/24 is directly connected, GigabitEthernet0/0</a:t>
            </a:r>
          </a:p>
          <a:p>
            <a:pPr marL="62865" indent="0">
              <a:buNone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192.168.11.0/24 is directly connected, GigabitEthernet0/1</a:t>
            </a:r>
          </a:p>
          <a:p>
            <a:pPr marL="62865" indent="0">
              <a:buNone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209.165.200.224/30 is directly connected, Serial0/0/0</a:t>
            </a:r>
          </a:p>
          <a:p>
            <a:pPr marL="62865" indent="0">
              <a:buNone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 10.1.1.0/24 [1/0] via 209.165.200.226</a:t>
            </a:r>
            <a:endParaRPr lang="en-IN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453745" y="3029527"/>
            <a:ext cx="4738255" cy="2650836"/>
            <a:chOff x="1086826" y="1230349"/>
            <a:chExt cx="10245722" cy="5081954"/>
          </a:xfrm>
        </p:grpSpPr>
        <p:pic>
          <p:nvPicPr>
            <p:cNvPr id="9" name="Google Shape;178;p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6826" y="1230349"/>
              <a:ext cx="10245722" cy="50819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85;p3"/>
            <p:cNvSpPr txBox="1"/>
            <p:nvPr/>
          </p:nvSpPr>
          <p:spPr>
            <a:xfrm>
              <a:off x="6535460" y="1555143"/>
              <a:ext cx="2939674" cy="501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1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20.20.20.0/30</a:t>
              </a:r>
              <a:endParaRPr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7647708" y="4922981"/>
            <a:ext cx="240146" cy="1754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100036" y="3797224"/>
            <a:ext cx="6196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2400" dirty="0">
                <a:solidFill>
                  <a:schemeClr val="tx1"/>
                </a:solidFill>
                <a:latin typeface="Corbel" panose="020B0503020204020204" pitchFamily="34" charset="0"/>
              </a:rPr>
              <a:t>Router R1 receives a packet which has the  destination  address is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10.1.1.24 </a:t>
            </a:r>
          </a:p>
        </p:txBody>
      </p:sp>
      <p:sp>
        <p:nvSpPr>
          <p:cNvPr id="13" name="Oval 12"/>
          <p:cNvSpPr/>
          <p:nvPr/>
        </p:nvSpPr>
        <p:spPr>
          <a:xfrm>
            <a:off x="1410418" y="2849439"/>
            <a:ext cx="1693000" cy="494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3945799" y="2849439"/>
            <a:ext cx="2133471" cy="494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1426013" y="2434269"/>
            <a:ext cx="6554205" cy="494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8926944" y="4505110"/>
            <a:ext cx="240146" cy="1754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9167090" y="4809887"/>
            <a:ext cx="406399" cy="247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22944" y="4922981"/>
            <a:ext cx="61966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How </a:t>
            </a: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many times 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did the Router R1 look up the routing table?</a:t>
            </a:r>
            <a:endParaRPr lang="en-US" altLang="en-US" sz="2800" dirty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6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5.92593E-6 L 3.95833E-6 -5.92593E-6 C 0.00091 0.00416 0.00195 0.00809 0.00299 0.01226 C 0.00455 0.0192 0.0026 0.01342 0.0052 0.02175 C 0.00729 0.028 0.00612 0.0236 0.00898 0.02985 C 0.00963 0.03101 0.00989 0.03263 0.01054 0.03379 C 0.01119 0.03518 0.0121 0.03633 0.01276 0.03772 C 0.01393 0.04027 0.01484 0.04328 0.01588 0.04582 C 0.0164 0.04721 0.0164 0.04953 0.01731 0.04999 C 0.02187 0.05161 0.01992 0.05069 0.02343 0.05277 C 0.02747 0.05231 0.03151 0.05207 0.03554 0.05138 C 0.03893 0.05069 0.03815 0.04999 0.04088 0.04721 C 0.04349 0.04467 0.04362 0.04467 0.04609 0.04328 L 0.05065 0.03518 C 0.05143 0.03379 0.05234 0.03263 0.05299 0.03101 C 0.05351 0.02985 0.0539 0.02823 0.05442 0.02707 C 0.0552 0.02569 0.05612 0.02453 0.05677 0.02291 C 0.05742 0.02129 0.05781 0.01944 0.0582 0.01758 C 0.05859 0.0162 0.05859 0.01481 0.05898 0.01365 C 0.05963 0.01203 0.06067 0.0111 0.06132 0.00948 C 0.06757 -0.0051 0.06145 0.00647 0.06653 -0.00255 C 0.06705 -0.00487 0.06744 -0.00718 0.06809 -0.00927 C 0.06809 -0.00927 0.07187 -0.01945 0.07265 -0.02154 C 0.07369 -0.02455 0.07474 -0.02755 0.07643 -0.02964 C 0.07708 -0.03033 0.07799 -0.03033 0.07864 -0.03103 C 0.08007 -0.03195 0.08242 -0.03473 0.08398 -0.03496 C 0.0875 -0.03566 0.09101 -0.03589 0.09466 -0.03635 L 0.09687 -0.03774 L 0.09843 -0.0389 L 0.09921 -0.03218 " pathEditMode="relative" ptsTypes="AAAAAAAAAAAAAAAAAAAAAAAAAAAA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07407E-6 L 0.09427 0.01273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14" y="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1" grpId="1" animBg="1"/>
      <p:bldP spid="12" grpId="0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418" y="288636"/>
            <a:ext cx="10018713" cy="708891"/>
          </a:xfrm>
        </p:spPr>
        <p:txBody>
          <a:bodyPr>
            <a:normAutofit fontScale="90000"/>
          </a:bodyPr>
          <a:lstStyle/>
          <a:p>
            <a:r>
              <a:rPr lang="en-IN" dirty="0"/>
              <a:t>Routing Table of R1 after the static route command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1410418" y="1793710"/>
            <a:ext cx="8527908" cy="2429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943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943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R1# show </a:t>
            </a:r>
            <a:r>
              <a:rPr lang="en-US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ip</a:t>
            </a: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route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192.168.10.0/24 is directly connected, GigabitEthernet0/0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192.168.11.0/24 is directly connected, GigabitEthernet0/1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209.165.200.224/30 is directly connected, Serial0/0/0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 10.1.1.0/24 [1/0] via 209.165.200.226</a:t>
            </a:r>
            <a:endParaRPr lang="en-IN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Google Shape;249;p60"/>
          <p:cNvSpPr txBox="1"/>
          <p:nvPr/>
        </p:nvSpPr>
        <p:spPr>
          <a:xfrm>
            <a:off x="1410418" y="1215159"/>
            <a:ext cx="439925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Using next hop IP address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9" name="Google Shape;288;p20"/>
          <p:cNvSpPr/>
          <p:nvPr/>
        </p:nvSpPr>
        <p:spPr>
          <a:xfrm>
            <a:off x="1502715" y="3737796"/>
            <a:ext cx="317122" cy="28925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" name="Google Shape;294;p20"/>
          <p:cNvSpPr txBox="1"/>
          <p:nvPr/>
        </p:nvSpPr>
        <p:spPr>
          <a:xfrm>
            <a:off x="653768" y="4378731"/>
            <a:ext cx="1513299" cy="64633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Type of route: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 - Static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299;p20"/>
          <p:cNvCxnSpPr>
            <a:stCxn id="9" idx="2"/>
            <a:endCxn id="10" idx="0"/>
          </p:cNvCxnSpPr>
          <p:nvPr/>
        </p:nvCxnSpPr>
        <p:spPr>
          <a:xfrm flipH="1">
            <a:off x="1410418" y="4027055"/>
            <a:ext cx="250858" cy="3516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Google Shape;290;p20"/>
          <p:cNvSpPr/>
          <p:nvPr/>
        </p:nvSpPr>
        <p:spPr>
          <a:xfrm>
            <a:off x="1819837" y="3758084"/>
            <a:ext cx="1532963" cy="26897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" name="Google Shape;295;p20"/>
          <p:cNvSpPr txBox="1"/>
          <p:nvPr/>
        </p:nvSpPr>
        <p:spPr>
          <a:xfrm>
            <a:off x="2288358" y="4610760"/>
            <a:ext cx="1383731" cy="64629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Destination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300;p20"/>
          <p:cNvCxnSpPr>
            <a:cxnSpLocks/>
            <a:stCxn id="16" idx="2"/>
          </p:cNvCxnSpPr>
          <p:nvPr/>
        </p:nvCxnSpPr>
        <p:spPr>
          <a:xfrm>
            <a:off x="2586319" y="4027056"/>
            <a:ext cx="207153" cy="583704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Google Shape;293;p20">
            <a:extLst>
              <a:ext uri="{FF2B5EF4-FFF2-40B4-BE49-F238E27FC236}">
                <a16:creationId xmlns:a16="http://schemas.microsoft.com/office/drawing/2014/main" id="{35A990FC-93ED-9B10-C825-1FF25E8CAD92}"/>
              </a:ext>
            </a:extLst>
          </p:cNvPr>
          <p:cNvSpPr/>
          <p:nvPr/>
        </p:nvSpPr>
        <p:spPr>
          <a:xfrm>
            <a:off x="4544119" y="3737796"/>
            <a:ext cx="2327736" cy="28925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" name="Google Shape;298;p20">
            <a:extLst>
              <a:ext uri="{FF2B5EF4-FFF2-40B4-BE49-F238E27FC236}">
                <a16:creationId xmlns:a16="http://schemas.microsoft.com/office/drawing/2014/main" id="{38F1D15B-F242-57BF-E68B-0A294D60744F}"/>
              </a:ext>
            </a:extLst>
          </p:cNvPr>
          <p:cNvSpPr txBox="1"/>
          <p:nvPr/>
        </p:nvSpPr>
        <p:spPr>
          <a:xfrm>
            <a:off x="5551128" y="4787293"/>
            <a:ext cx="3429740" cy="64629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Next Hop IP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Or, Exit Interface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303;p20">
            <a:extLst>
              <a:ext uri="{FF2B5EF4-FFF2-40B4-BE49-F238E27FC236}">
                <a16:creationId xmlns:a16="http://schemas.microsoft.com/office/drawing/2014/main" id="{D6B2B6B7-AB5B-B79F-67C5-63E222AC2B75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5707987" y="4027055"/>
            <a:ext cx="1558011" cy="760238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" name="Google Shape;291;p20">
            <a:extLst>
              <a:ext uri="{FF2B5EF4-FFF2-40B4-BE49-F238E27FC236}">
                <a16:creationId xmlns:a16="http://schemas.microsoft.com/office/drawing/2014/main" id="{73A19880-741A-F412-F78C-CAA1944BBF33}"/>
              </a:ext>
            </a:extLst>
          </p:cNvPr>
          <p:cNvSpPr/>
          <p:nvPr/>
        </p:nvSpPr>
        <p:spPr>
          <a:xfrm>
            <a:off x="3420309" y="3785537"/>
            <a:ext cx="245165" cy="2120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292;p20">
            <a:extLst>
              <a:ext uri="{FF2B5EF4-FFF2-40B4-BE49-F238E27FC236}">
                <a16:creationId xmlns:a16="http://schemas.microsoft.com/office/drawing/2014/main" id="{8F9A77E4-50CD-F2C9-6B69-96F8604F9B8B}"/>
              </a:ext>
            </a:extLst>
          </p:cNvPr>
          <p:cNvSpPr/>
          <p:nvPr/>
        </p:nvSpPr>
        <p:spPr>
          <a:xfrm>
            <a:off x="3765505" y="3792161"/>
            <a:ext cx="256931" cy="28925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296;p20">
            <a:extLst>
              <a:ext uri="{FF2B5EF4-FFF2-40B4-BE49-F238E27FC236}">
                <a16:creationId xmlns:a16="http://schemas.microsoft.com/office/drawing/2014/main" id="{FD7AB527-180D-EE7D-21B9-F0F3B27E9EC7}"/>
              </a:ext>
            </a:extLst>
          </p:cNvPr>
          <p:cNvSpPr txBox="1"/>
          <p:nvPr/>
        </p:nvSpPr>
        <p:spPr>
          <a:xfrm>
            <a:off x="2456621" y="5496046"/>
            <a:ext cx="2123256" cy="64629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Administrative</a:t>
            </a:r>
            <a:endParaRPr sz="1400" b="1" i="0" u="none" strike="noStrike" cap="none" dirty="0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Distance</a:t>
            </a:r>
            <a:endParaRPr sz="1400" b="1" i="0" u="none" strike="noStrike" cap="none" dirty="0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97;p20">
            <a:extLst>
              <a:ext uri="{FF2B5EF4-FFF2-40B4-BE49-F238E27FC236}">
                <a16:creationId xmlns:a16="http://schemas.microsoft.com/office/drawing/2014/main" id="{E083CA4D-C2D9-A92B-EFAC-CF8224E78071}"/>
              </a:ext>
            </a:extLst>
          </p:cNvPr>
          <p:cNvSpPr txBox="1"/>
          <p:nvPr/>
        </p:nvSpPr>
        <p:spPr>
          <a:xfrm>
            <a:off x="3915535" y="4707265"/>
            <a:ext cx="1356462" cy="3693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Cost of Path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301;p20">
            <a:extLst>
              <a:ext uri="{FF2B5EF4-FFF2-40B4-BE49-F238E27FC236}">
                <a16:creationId xmlns:a16="http://schemas.microsoft.com/office/drawing/2014/main" id="{6F3207C8-18F5-8CB3-9355-69701446E4C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463109" y="3997572"/>
            <a:ext cx="79783" cy="1555219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" name="Google Shape;302;p20">
            <a:extLst>
              <a:ext uri="{FF2B5EF4-FFF2-40B4-BE49-F238E27FC236}">
                <a16:creationId xmlns:a16="http://schemas.microsoft.com/office/drawing/2014/main" id="{A7E2EF9D-CC84-A9A7-FA76-1D479B3E03A6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3893971" y="4081420"/>
            <a:ext cx="699795" cy="62584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4AB6604-EF72-1A8F-AAC7-E0DB03FFB2C4}"/>
              </a:ext>
            </a:extLst>
          </p:cNvPr>
          <p:cNvSpPr txBox="1"/>
          <p:nvPr/>
        </p:nvSpPr>
        <p:spPr>
          <a:xfrm>
            <a:off x="2167066" y="6142336"/>
            <a:ext cx="91024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Corbel"/>
                <a:ea typeface="Corbel"/>
                <a:cs typeface="Corbel"/>
                <a:sym typeface="Corbel"/>
              </a:rPr>
              <a:t>AD</a:t>
            </a:r>
            <a:r>
              <a:rPr lang="en-US" sz="3200" i="0" u="none" strike="noStrike" cap="none" dirty="0">
                <a:solidFill>
                  <a:schemeClr val="tx1"/>
                </a:solidFill>
                <a:latin typeface="Corbel"/>
                <a:ea typeface="Corbel"/>
                <a:cs typeface="Corbel"/>
                <a:sym typeface="Corbel"/>
              </a:rPr>
              <a:t> : The trustworthiness of the source of the route</a:t>
            </a:r>
            <a:endParaRPr lang="en-US" sz="240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387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6E792-5E7C-139D-989F-B46FA453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1021A1-B2AC-AFC3-EDB6-66F65BB1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84974"/>
            <a:ext cx="9457808" cy="46820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41A8C11-4BD9-E47B-F060-8DED18684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418" y="288636"/>
            <a:ext cx="10018713" cy="708891"/>
          </a:xfrm>
        </p:spPr>
        <p:txBody>
          <a:bodyPr>
            <a:normAutofit/>
          </a:bodyPr>
          <a:lstStyle/>
          <a:p>
            <a:r>
              <a:rPr lang="en-IN" dirty="0"/>
              <a:t>Default Route</a:t>
            </a:r>
          </a:p>
        </p:txBody>
      </p:sp>
      <p:sp>
        <p:nvSpPr>
          <p:cNvPr id="7" name="Google Shape;306;p20">
            <a:extLst>
              <a:ext uri="{FF2B5EF4-FFF2-40B4-BE49-F238E27FC236}">
                <a16:creationId xmlns:a16="http://schemas.microsoft.com/office/drawing/2014/main" id="{9BA0DAD3-827E-2667-89FA-5FB81BCFF980}"/>
              </a:ext>
            </a:extLst>
          </p:cNvPr>
          <p:cNvSpPr txBox="1"/>
          <p:nvPr/>
        </p:nvSpPr>
        <p:spPr>
          <a:xfrm>
            <a:off x="1524000" y="997527"/>
            <a:ext cx="831509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i="0" u="none" strike="noStrike" cap="none" dirty="0">
                <a:solidFill>
                  <a:schemeClr val="tx1"/>
                </a:solidFill>
                <a:latin typeface="Corbel" panose="020B0503020204020204" pitchFamily="34" charset="0"/>
                <a:sym typeface="Arial"/>
              </a:rPr>
              <a:t>All PCs of R1 and R2 need to go to the Internet ….</a:t>
            </a:r>
            <a:br>
              <a:rPr lang="en-US" sz="2400" i="0" u="none" strike="noStrike" cap="none" dirty="0">
                <a:solidFill>
                  <a:schemeClr val="tx1"/>
                </a:solidFill>
                <a:latin typeface="Corbel" panose="020B0503020204020204" pitchFamily="34" charset="0"/>
                <a:sym typeface="Arial"/>
              </a:rPr>
            </a:br>
            <a:endParaRPr sz="2400" i="0" u="none" strike="noStrike" cap="none" dirty="0">
              <a:solidFill>
                <a:schemeClr val="tx1"/>
              </a:solidFill>
              <a:latin typeface="Corbel" panose="020B0503020204020204" pitchFamily="34" charset="0"/>
              <a:sym typeface="Arial"/>
            </a:endParaRPr>
          </a:p>
        </p:txBody>
      </p:sp>
      <p:sp>
        <p:nvSpPr>
          <p:cNvPr id="8" name="Google Shape;330;p27">
            <a:extLst>
              <a:ext uri="{FF2B5EF4-FFF2-40B4-BE49-F238E27FC236}">
                <a16:creationId xmlns:a16="http://schemas.microsoft.com/office/drawing/2014/main" id="{90AD94CD-392C-5A7C-EA0E-7DC988CAA728}"/>
              </a:ext>
            </a:extLst>
          </p:cNvPr>
          <p:cNvSpPr txBox="1"/>
          <p:nvPr/>
        </p:nvSpPr>
        <p:spPr>
          <a:xfrm>
            <a:off x="1930400" y="2537374"/>
            <a:ext cx="5715000" cy="400050"/>
          </a:xfrm>
          <a:prstGeom prst="rect">
            <a:avLst/>
          </a:prstGeom>
          <a:solidFill>
            <a:srgbClr val="FF9300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route 0.0.0.0 0.0.0.0 s0/0/1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40453E-B991-6BF8-DB98-617E0E5EA96F}"/>
              </a:ext>
            </a:extLst>
          </p:cNvPr>
          <p:cNvCxnSpPr>
            <a:stCxn id="8" idx="2"/>
          </p:cNvCxnSpPr>
          <p:nvPr/>
        </p:nvCxnSpPr>
        <p:spPr>
          <a:xfrm>
            <a:off x="4787900" y="2937424"/>
            <a:ext cx="2164443" cy="18522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28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96274926-BE8E-FBF5-DB58-7CE12AE3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431B56-BFD5-C6BE-F4ED-F72B50265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934" y="860244"/>
            <a:ext cx="8456613" cy="4186441"/>
          </a:xfrm>
          <a:prstGeom prst="rect">
            <a:avLst/>
          </a:prstGeom>
        </p:spPr>
      </p:pic>
      <p:sp>
        <p:nvSpPr>
          <p:cNvPr id="247" name="Google Shape;247;p60">
            <a:extLst>
              <a:ext uri="{FF2B5EF4-FFF2-40B4-BE49-F238E27FC236}">
                <a16:creationId xmlns:a16="http://schemas.microsoft.com/office/drawing/2014/main" id="{94962FD5-64A8-3DF1-D387-E7E5911AE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8453" y="233506"/>
            <a:ext cx="84566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708CA1"/>
                </a:solidFill>
              </a:rPr>
              <a:t>ip route Command</a:t>
            </a:r>
            <a:endParaRPr/>
          </a:p>
        </p:txBody>
      </p:sp>
      <p:sp>
        <p:nvSpPr>
          <p:cNvPr id="8" name="Google Shape;249;p60">
            <a:extLst>
              <a:ext uri="{FF2B5EF4-FFF2-40B4-BE49-F238E27FC236}">
                <a16:creationId xmlns:a16="http://schemas.microsoft.com/office/drawing/2014/main" id="{55A29738-951B-0CA9-4FBD-B00B6ABDB6AC}"/>
              </a:ext>
            </a:extLst>
          </p:cNvPr>
          <p:cNvSpPr txBox="1"/>
          <p:nvPr/>
        </p:nvSpPr>
        <p:spPr>
          <a:xfrm>
            <a:off x="3016733" y="5377110"/>
            <a:ext cx="1076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rgbClr val="0070C0"/>
                </a:solidFill>
              </a:rPr>
              <a:t>i</a:t>
            </a:r>
            <a:r>
              <a:rPr lang="en-US" sz="16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route</a:t>
            </a:r>
            <a:endParaRPr sz="1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CBB4C2-D868-AA9C-C60C-7640372E1A32}"/>
              </a:ext>
            </a:extLst>
          </p:cNvPr>
          <p:cNvSpPr/>
          <p:nvPr/>
        </p:nvSpPr>
        <p:spPr>
          <a:xfrm>
            <a:off x="3949366" y="3188854"/>
            <a:ext cx="956464" cy="6574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249;p60">
            <a:extLst>
              <a:ext uri="{FF2B5EF4-FFF2-40B4-BE49-F238E27FC236}">
                <a16:creationId xmlns:a16="http://schemas.microsoft.com/office/drawing/2014/main" id="{B689E7F8-F918-5DE5-0EFC-A7675323B50E}"/>
              </a:ext>
            </a:extLst>
          </p:cNvPr>
          <p:cNvSpPr txBox="1"/>
          <p:nvPr/>
        </p:nvSpPr>
        <p:spPr>
          <a:xfrm>
            <a:off x="7241495" y="5234145"/>
            <a:ext cx="245225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Exit interface or next hop IP address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Google Shape;249;p60">
            <a:extLst>
              <a:ext uri="{FF2B5EF4-FFF2-40B4-BE49-F238E27FC236}">
                <a16:creationId xmlns:a16="http://schemas.microsoft.com/office/drawing/2014/main" id="{1122FA78-5320-B648-BEBD-509084F2DE1C}"/>
              </a:ext>
            </a:extLst>
          </p:cNvPr>
          <p:cNvSpPr txBox="1"/>
          <p:nvPr/>
        </p:nvSpPr>
        <p:spPr>
          <a:xfrm>
            <a:off x="4040729" y="5282146"/>
            <a:ext cx="186774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The remote network address</a:t>
            </a:r>
            <a:endParaRPr sz="1400" b="0" i="0" u="none" strike="noStrike" cap="none" dirty="0">
              <a:solidFill>
                <a:schemeClr val="accent2">
                  <a:lumMod val="75000"/>
                </a:schemeClr>
              </a:solidFill>
              <a:sym typeface="Arial"/>
            </a:endParaRPr>
          </a:p>
        </p:txBody>
      </p:sp>
      <p:sp>
        <p:nvSpPr>
          <p:cNvPr id="17" name="Google Shape;249;p60">
            <a:extLst>
              <a:ext uri="{FF2B5EF4-FFF2-40B4-BE49-F238E27FC236}">
                <a16:creationId xmlns:a16="http://schemas.microsoft.com/office/drawing/2014/main" id="{F1A311A6-7D36-0D9C-DFE7-6DBE07A496F3}"/>
              </a:ext>
            </a:extLst>
          </p:cNvPr>
          <p:cNvSpPr txBox="1"/>
          <p:nvPr/>
        </p:nvSpPr>
        <p:spPr>
          <a:xfrm>
            <a:off x="5727840" y="5334909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Subnet Mask</a:t>
            </a:r>
            <a:endParaRPr sz="1400" b="0" i="0" u="none" strike="noStrike" cap="none" dirty="0">
              <a:solidFill>
                <a:schemeClr val="accent6">
                  <a:lumMod val="75000"/>
                </a:schemeClr>
              </a:solidFill>
              <a:sym typeface="Arial"/>
            </a:endParaRPr>
          </a:p>
        </p:txBody>
      </p:sp>
      <p:sp>
        <p:nvSpPr>
          <p:cNvPr id="19" name="Google Shape;249;p60">
            <a:extLst>
              <a:ext uri="{FF2B5EF4-FFF2-40B4-BE49-F238E27FC236}">
                <a16:creationId xmlns:a16="http://schemas.microsoft.com/office/drawing/2014/main" id="{53C598F0-D60C-F8DA-CC6B-754058518710}"/>
              </a:ext>
            </a:extLst>
          </p:cNvPr>
          <p:cNvSpPr txBox="1"/>
          <p:nvPr/>
        </p:nvSpPr>
        <p:spPr>
          <a:xfrm>
            <a:off x="4011914" y="5773328"/>
            <a:ext cx="186774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0.0.0.0</a:t>
            </a:r>
            <a:endParaRPr sz="1400" b="0" i="0" u="none" strike="noStrike" cap="none" dirty="0">
              <a:solidFill>
                <a:schemeClr val="accent2">
                  <a:lumMod val="75000"/>
                </a:schemeClr>
              </a:solidFill>
              <a:sym typeface="Arial"/>
            </a:endParaRPr>
          </a:p>
        </p:txBody>
      </p:sp>
      <p:sp>
        <p:nvSpPr>
          <p:cNvPr id="20" name="Google Shape;249;p60">
            <a:extLst>
              <a:ext uri="{FF2B5EF4-FFF2-40B4-BE49-F238E27FC236}">
                <a16:creationId xmlns:a16="http://schemas.microsoft.com/office/drawing/2014/main" id="{E243A4A0-14C4-1223-1A4B-2C57D79B3F39}"/>
              </a:ext>
            </a:extLst>
          </p:cNvPr>
          <p:cNvSpPr txBox="1"/>
          <p:nvPr/>
        </p:nvSpPr>
        <p:spPr>
          <a:xfrm>
            <a:off x="2964328" y="5715624"/>
            <a:ext cx="1076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rgbClr val="0070C0"/>
                </a:solidFill>
              </a:rPr>
              <a:t>i</a:t>
            </a:r>
            <a:r>
              <a:rPr lang="en-US" sz="16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route</a:t>
            </a:r>
            <a:endParaRPr sz="1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49;p60">
            <a:extLst>
              <a:ext uri="{FF2B5EF4-FFF2-40B4-BE49-F238E27FC236}">
                <a16:creationId xmlns:a16="http://schemas.microsoft.com/office/drawing/2014/main" id="{E6F09471-50B1-A00C-1094-5F69B94EBC11}"/>
              </a:ext>
            </a:extLst>
          </p:cNvPr>
          <p:cNvSpPr txBox="1"/>
          <p:nvPr/>
        </p:nvSpPr>
        <p:spPr>
          <a:xfrm>
            <a:off x="5727840" y="5761974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0.0.0.0</a:t>
            </a:r>
            <a:endParaRPr sz="1400" b="0" i="0" u="none" strike="noStrike" cap="none" dirty="0">
              <a:solidFill>
                <a:schemeClr val="accent6">
                  <a:lumMod val="75000"/>
                </a:schemeClr>
              </a:solidFill>
              <a:sym typeface="Arial"/>
            </a:endParaRPr>
          </a:p>
        </p:txBody>
      </p:sp>
      <p:sp>
        <p:nvSpPr>
          <p:cNvPr id="22" name="Google Shape;249;p60">
            <a:extLst>
              <a:ext uri="{FF2B5EF4-FFF2-40B4-BE49-F238E27FC236}">
                <a16:creationId xmlns:a16="http://schemas.microsoft.com/office/drawing/2014/main" id="{73A80A7C-FDA8-B20A-0EE1-73A88A481BB2}"/>
              </a:ext>
            </a:extLst>
          </p:cNvPr>
          <p:cNvSpPr txBox="1"/>
          <p:nvPr/>
        </p:nvSpPr>
        <p:spPr>
          <a:xfrm>
            <a:off x="7256009" y="5724874"/>
            <a:ext cx="12282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S0/0/1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4" name="Google Shape;249;p60">
            <a:extLst>
              <a:ext uri="{FF2B5EF4-FFF2-40B4-BE49-F238E27FC236}">
                <a16:creationId xmlns:a16="http://schemas.microsoft.com/office/drawing/2014/main" id="{07FB1A14-F62C-E008-5B97-BEB1936C140B}"/>
              </a:ext>
            </a:extLst>
          </p:cNvPr>
          <p:cNvSpPr txBox="1"/>
          <p:nvPr/>
        </p:nvSpPr>
        <p:spPr>
          <a:xfrm>
            <a:off x="1584734" y="5731163"/>
            <a:ext cx="143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7D28CD"/>
                </a:solidFill>
              </a:rPr>
              <a:t>R2</a:t>
            </a:r>
            <a:r>
              <a:rPr lang="en-US" sz="1600" b="1" i="0" u="none" strike="noStrike" cap="none" dirty="0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(config)#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49;p60">
            <a:extLst>
              <a:ext uri="{FF2B5EF4-FFF2-40B4-BE49-F238E27FC236}">
                <a16:creationId xmlns:a16="http://schemas.microsoft.com/office/drawing/2014/main" id="{902C6B40-316F-063A-B911-138E1822E004}"/>
              </a:ext>
            </a:extLst>
          </p:cNvPr>
          <p:cNvSpPr txBox="1"/>
          <p:nvPr/>
        </p:nvSpPr>
        <p:spPr>
          <a:xfrm>
            <a:off x="4465838" y="6084169"/>
            <a:ext cx="22232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000" b="1" dirty="0">
                <a:solidFill>
                  <a:srgbClr val="FF0000"/>
                </a:solidFill>
                <a:latin typeface="Corbel" panose="020B0503020204020204" pitchFamily="34" charset="0"/>
              </a:rPr>
              <a:t>Any network</a:t>
            </a:r>
            <a:endParaRPr sz="1800" b="0" i="0" u="none" strike="noStrike" cap="none" dirty="0">
              <a:solidFill>
                <a:srgbClr val="FF0000"/>
              </a:solidFill>
              <a:latin typeface="Corbel" panose="020B0503020204020204" pitchFamily="34" charset="0"/>
              <a:sym typeface="Arial"/>
            </a:endParaRPr>
          </a:p>
        </p:txBody>
      </p:sp>
      <p:sp>
        <p:nvSpPr>
          <p:cNvPr id="25" name="Google Shape;249;p60">
            <a:extLst>
              <a:ext uri="{FF2B5EF4-FFF2-40B4-BE49-F238E27FC236}">
                <a16:creationId xmlns:a16="http://schemas.microsoft.com/office/drawing/2014/main" id="{980D14A1-C13D-7616-17B5-BD920800AE97}"/>
              </a:ext>
            </a:extLst>
          </p:cNvPr>
          <p:cNvSpPr txBox="1"/>
          <p:nvPr/>
        </p:nvSpPr>
        <p:spPr>
          <a:xfrm>
            <a:off x="10198279" y="2753429"/>
            <a:ext cx="22232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000" b="1" dirty="0">
                <a:solidFill>
                  <a:srgbClr val="FF0000"/>
                </a:solidFill>
                <a:latin typeface="Corbel" panose="020B0503020204020204" pitchFamily="34" charset="0"/>
              </a:rPr>
              <a:t>What about R1?</a:t>
            </a:r>
            <a:endParaRPr sz="1800" b="0" i="0" u="none" strike="noStrike" cap="none" dirty="0">
              <a:solidFill>
                <a:srgbClr val="FF0000"/>
              </a:solidFill>
              <a:latin typeface="Corbel" panose="020B0503020204020204" pitchFamily="34" charset="0"/>
              <a:sym typeface="Arial"/>
            </a:endParaRPr>
          </a:p>
        </p:txBody>
      </p:sp>
      <p:sp>
        <p:nvSpPr>
          <p:cNvPr id="26" name="Google Shape;330;p27">
            <a:extLst>
              <a:ext uri="{FF2B5EF4-FFF2-40B4-BE49-F238E27FC236}">
                <a16:creationId xmlns:a16="http://schemas.microsoft.com/office/drawing/2014/main" id="{F4E2F76A-9335-2BCF-C5E9-8EBF26C1D710}"/>
              </a:ext>
            </a:extLst>
          </p:cNvPr>
          <p:cNvSpPr txBox="1"/>
          <p:nvPr/>
        </p:nvSpPr>
        <p:spPr>
          <a:xfrm>
            <a:off x="1183228" y="1243533"/>
            <a:ext cx="5715000" cy="4000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route 0.0.0.0 0.0.0.0 s0/0/0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B07913-0D32-9915-DC7F-6129BEA54983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4040728" y="1643583"/>
            <a:ext cx="425110" cy="16767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B5BD89-4042-E47E-F9E3-AA1C8599F371}"/>
              </a:ext>
            </a:extLst>
          </p:cNvPr>
          <p:cNvCxnSpPr>
            <a:cxnSpLocks/>
          </p:cNvCxnSpPr>
          <p:nvPr/>
        </p:nvCxnSpPr>
        <p:spPr>
          <a:xfrm>
            <a:off x="4905830" y="2812729"/>
            <a:ext cx="671647" cy="3729"/>
          </a:xfrm>
          <a:prstGeom prst="straightConnector1">
            <a:avLst/>
          </a:prstGeom>
          <a:ln w="698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300CA8-6C40-131C-ED49-5957DD0A11CA}"/>
              </a:ext>
            </a:extLst>
          </p:cNvPr>
          <p:cNvCxnSpPr>
            <a:cxnSpLocks/>
          </p:cNvCxnSpPr>
          <p:nvPr/>
        </p:nvCxnSpPr>
        <p:spPr>
          <a:xfrm flipV="1">
            <a:off x="6851408" y="1831043"/>
            <a:ext cx="418902" cy="566356"/>
          </a:xfrm>
          <a:prstGeom prst="straightConnector1">
            <a:avLst/>
          </a:prstGeom>
          <a:ln w="69850">
            <a:solidFill>
              <a:srgbClr val="FF93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61549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2" grpId="1" animBg="1"/>
      <p:bldP spid="14" grpId="0"/>
      <p:bldP spid="15" grpId="0"/>
      <p:bldP spid="17" grpId="0"/>
      <p:bldP spid="19" grpId="0"/>
      <p:bldP spid="20" grpId="0"/>
      <p:bldP spid="21" grpId="0"/>
      <p:bldP spid="22" grpId="0"/>
      <p:bldP spid="22" grpId="1"/>
      <p:bldP spid="24" grpId="0"/>
      <p:bldP spid="4" grpId="0"/>
      <p:bldP spid="25" grpId="0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Default Static Route in the Routing Table</a:t>
            </a:r>
            <a:endParaRPr dirty="0"/>
          </a:p>
        </p:txBody>
      </p:sp>
      <p:pic>
        <p:nvPicPr>
          <p:cNvPr id="337" name="Google Shape;33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1D33793-CF51-14B9-1D1D-3A9603BDCDB2}"/>
              </a:ext>
            </a:extLst>
          </p:cNvPr>
          <p:cNvSpPr txBox="1">
            <a:spLocks/>
          </p:cNvSpPr>
          <p:nvPr/>
        </p:nvSpPr>
        <p:spPr>
          <a:xfrm>
            <a:off x="1410418" y="1793710"/>
            <a:ext cx="8527908" cy="2429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943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943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R1# show </a:t>
            </a:r>
            <a:r>
              <a:rPr lang="en-US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ip</a:t>
            </a: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route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192.168.10.0/24 is directly connected, GigabitEthernet0/0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192.168.11.0/24 is directly connected, GigabitEthernet0/1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 209.165.200.224/30 is directly connected, Serial0/0/0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 10.1.1.0/24 [1/0] via 209.165.200.226</a:t>
            </a:r>
          </a:p>
          <a:p>
            <a:pPr marL="62865" indent="0">
              <a:buNone/>
            </a:pP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S* 0.0.0.0/0 is directly connected, Serial0/0/0</a:t>
            </a:r>
            <a:endParaRPr lang="en-IN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1484309" y="3787836"/>
            <a:ext cx="6484033" cy="43503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2129da5eb9_0_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Floating Static Routing</a:t>
            </a:r>
            <a:endParaRPr/>
          </a:p>
        </p:txBody>
      </p:sp>
      <p:pic>
        <p:nvPicPr>
          <p:cNvPr id="346" name="Google Shape;346;g32129da5eb9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2129da5eb9_0_0"/>
          <p:cNvSpPr txBox="1"/>
          <p:nvPr/>
        </p:nvSpPr>
        <p:spPr>
          <a:xfrm>
            <a:off x="6751782" y="6191976"/>
            <a:ext cx="4525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https://study-ccna.com/floating-static-route/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g32129da5eb9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7717" y="1392195"/>
            <a:ext cx="9120361" cy="4503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129da5eb9_0_7"/>
          <p:cNvSpPr txBox="1"/>
          <p:nvPr/>
        </p:nvSpPr>
        <p:spPr>
          <a:xfrm>
            <a:off x="572310" y="4721552"/>
            <a:ext cx="71400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R1(config)#ip route 0.0.0.0 0.0.0.0 S0/0/0</a:t>
            </a: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54" name="Google Shape;354;g32129da5eb9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659" y="1542319"/>
            <a:ext cx="5761032" cy="284495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2129da5eb9_0_7"/>
          <p:cNvSpPr txBox="1"/>
          <p:nvPr/>
        </p:nvSpPr>
        <p:spPr>
          <a:xfrm>
            <a:off x="6474691" y="1542319"/>
            <a:ext cx="59532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S* 0.0.0.0/0 is directly connected, S0/0/0</a:t>
            </a:r>
            <a:endParaRPr sz="2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S* 0.0.0.0/0 is directly connected, S0/0/1</a:t>
            </a: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6" name="Google Shape;356;g32129da5eb9_0_7"/>
          <p:cNvSpPr txBox="1"/>
          <p:nvPr/>
        </p:nvSpPr>
        <p:spPr>
          <a:xfrm>
            <a:off x="6876472" y="2510213"/>
            <a:ext cx="51495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Both has same cost same AD. Which one to use?</a:t>
            </a:r>
            <a:endParaRPr sz="2400" b="0" i="0" u="none" strike="noStrike" cap="non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7" name="Google Shape;357;g32129da5eb9_0_7"/>
          <p:cNvSpPr txBox="1"/>
          <p:nvPr/>
        </p:nvSpPr>
        <p:spPr>
          <a:xfrm>
            <a:off x="7453745" y="5191721"/>
            <a:ext cx="5172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35"/>
              <a:buFont typeface="Arial"/>
              <a:buNone/>
            </a:pPr>
            <a:r>
              <a:rPr lang="en-US" sz="2000" b="1" i="0" u="none" strike="noStrike" cap="non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2400" b="0" i="0" u="none" strike="noStrike" cap="non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8" name="Google Shape;358;g32129da5eb9_0_7"/>
          <p:cNvSpPr/>
          <p:nvPr/>
        </p:nvSpPr>
        <p:spPr>
          <a:xfrm rot="2116559" flipH="1">
            <a:off x="7731327" y="5451165"/>
            <a:ext cx="481026" cy="2182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2129da5eb9_0_7"/>
          <p:cNvSpPr txBox="1"/>
          <p:nvPr/>
        </p:nvSpPr>
        <p:spPr>
          <a:xfrm>
            <a:off x="8229599" y="5498796"/>
            <a:ext cx="1549200" cy="5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207142"/>
              <a:buFont typeface="Arial"/>
              <a:buNone/>
            </a:pPr>
            <a:r>
              <a:rPr lang="en-US" sz="2000" b="1" i="0" u="none" strike="noStrike" cap="non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AD &gt; default Value</a:t>
            </a:r>
            <a:endParaRPr sz="2400" b="0" i="0" u="none" strike="noStrike" cap="non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0" name="Google Shape;360;g32129da5eb9_0_7"/>
          <p:cNvSpPr/>
          <p:nvPr/>
        </p:nvSpPr>
        <p:spPr>
          <a:xfrm>
            <a:off x="858968" y="5144853"/>
            <a:ext cx="666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R1(config)#ip route 0.0.0.0 0.0.0.0 S0/0/1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2129da5eb9_0_7"/>
          <p:cNvSpPr txBox="1"/>
          <p:nvPr/>
        </p:nvSpPr>
        <p:spPr>
          <a:xfrm>
            <a:off x="6765636" y="1024772"/>
            <a:ext cx="51495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R1 Routing Table (Partial)</a:t>
            </a:r>
            <a:endParaRPr sz="2400" b="0" i="0" u="none" strike="noStrike" cap="non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2" name="Google Shape;362;g32129da5eb9_0_7"/>
          <p:cNvSpPr/>
          <p:nvPr/>
        </p:nvSpPr>
        <p:spPr>
          <a:xfrm rot="-1204127" flipH="1">
            <a:off x="6998215" y="4378210"/>
            <a:ext cx="1473999" cy="2459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2129da5eb9_0_7"/>
          <p:cNvSpPr txBox="1"/>
          <p:nvPr/>
        </p:nvSpPr>
        <p:spPr>
          <a:xfrm>
            <a:off x="8565830" y="4290717"/>
            <a:ext cx="2009700" cy="5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lang="en-US" sz="1400" b="1" i="0" u="none" strike="noStrike" cap="non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Present in Routing Table</a:t>
            </a:r>
            <a:endParaRPr sz="1600" b="0" i="0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4" name="Google Shape;364;g32129da5eb9_0_7"/>
          <p:cNvSpPr/>
          <p:nvPr/>
        </p:nvSpPr>
        <p:spPr>
          <a:xfrm rot="2530212" flipH="1">
            <a:off x="4407692" y="5688888"/>
            <a:ext cx="837883" cy="13593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2129da5eb9_0_7"/>
          <p:cNvSpPr txBox="1"/>
          <p:nvPr/>
        </p:nvSpPr>
        <p:spPr>
          <a:xfrm>
            <a:off x="5076345" y="5980419"/>
            <a:ext cx="2451300" cy="5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lang="en-US" sz="1400" b="1" i="0" u="none" strike="noStrike" cap="non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Present in Router Configuration File </a:t>
            </a:r>
            <a:endParaRPr sz="1600" b="0" i="0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6" name="Google Shape;366;g32129da5eb9_0_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Floating Default Static Routing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6"/>
          <p:cNvSpPr txBox="1"/>
          <p:nvPr/>
        </p:nvSpPr>
        <p:spPr>
          <a:xfrm>
            <a:off x="1484310" y="1332346"/>
            <a:ext cx="10449072" cy="307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075" tIns="41025" rIns="82075" bIns="410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50000"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Simple and predictable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50000"/>
              <a:buFontTx/>
              <a:buChar char="•"/>
            </a:pPr>
            <a:endParaRPr lang="en-US" altLang="en-US" sz="36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50000"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More secure (not advertised)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50000"/>
              <a:buFontTx/>
              <a:buChar char="•"/>
            </a:pPr>
            <a:endParaRPr lang="en-US" altLang="en-US" sz="36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50000"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Low CPU/memory usage</a:t>
            </a:r>
            <a:endParaRPr lang="en-US" altLang="en-US" sz="28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05" name="Google Shape;205;p5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 Advantages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857509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7"/>
          <p:cNvSpPr txBox="1"/>
          <p:nvPr/>
        </p:nvSpPr>
        <p:spPr>
          <a:xfrm>
            <a:off x="1605665" y="1490065"/>
            <a:ext cx="9384288" cy="467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075" tIns="41025" rIns="82075" bIns="410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Corbel" panose="020B0503020204020204" pitchFamily="34" charset="0"/>
              </a:rPr>
              <a:t>Time-consuming to configure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40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Corbel" panose="020B0503020204020204" pitchFamily="34" charset="0"/>
              </a:rPr>
              <a:t>Not scalable for large networks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40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Corbel" panose="020B0503020204020204" pitchFamily="34" charset="0"/>
              </a:rPr>
              <a:t>No automatic failover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40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Corbel" panose="020B0503020204020204" pitchFamily="34" charset="0"/>
              </a:rPr>
              <a:t>Requires full network knowledge</a:t>
            </a:r>
          </a:p>
          <a:p>
            <a:pPr marL="234950" marR="0" lvl="0" indent="-2349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7"/>
          <p:cNvSpPr txBox="1"/>
          <p:nvPr/>
        </p:nvSpPr>
        <p:spPr>
          <a:xfrm>
            <a:off x="1086643" y="449941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Route Disadvantages</a:t>
            </a:r>
            <a:endParaRPr sz="40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281622106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397" name="Google Shape;39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788</Words>
  <Application>Microsoft Macintosh PowerPoint</Application>
  <PresentationFormat>Widescreen</PresentationFormat>
  <Paragraphs>197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Corbel</vt:lpstr>
      <vt:lpstr>Calibri</vt:lpstr>
      <vt:lpstr>Times New Roman</vt:lpstr>
      <vt:lpstr>Arial</vt:lpstr>
      <vt:lpstr>Nirmala UI</vt:lpstr>
      <vt:lpstr>Courier New</vt:lpstr>
      <vt:lpstr>Parallax</vt:lpstr>
      <vt:lpstr>Network Layer: IPv4 Static Routing</vt:lpstr>
      <vt:lpstr>Objectives</vt:lpstr>
      <vt:lpstr>Learning About Networks</vt:lpstr>
      <vt:lpstr>Learning About Networks</vt:lpstr>
      <vt:lpstr>Static Route</vt:lpstr>
      <vt:lpstr>PowerPoint Presentation</vt:lpstr>
      <vt:lpstr>Static Route : How??</vt:lpstr>
      <vt:lpstr>Routing Table of R1 after the static route command</vt:lpstr>
      <vt:lpstr>Recursive Lookup</vt:lpstr>
      <vt:lpstr>Routing Table of R1 after the static route command</vt:lpstr>
      <vt:lpstr>Default Route</vt:lpstr>
      <vt:lpstr>ip route Command</vt:lpstr>
      <vt:lpstr>Default Static Route in the Routing Table</vt:lpstr>
      <vt:lpstr>Floating Static Routing</vt:lpstr>
      <vt:lpstr>Floating Default Static Routing </vt:lpstr>
      <vt:lpstr>Static Route Advantages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Layer: IPv4 Static Routing</dc:title>
  <dc:creator>Arif Shakil</dc:creator>
  <cp:lastModifiedBy>Sadia Kazi</cp:lastModifiedBy>
  <cp:revision>13</cp:revision>
  <dcterms:created xsi:type="dcterms:W3CDTF">2020-06-17T13:03:26Z</dcterms:created>
  <dcterms:modified xsi:type="dcterms:W3CDTF">2025-12-12T15:49:00Z</dcterms:modified>
</cp:coreProperties>
</file>