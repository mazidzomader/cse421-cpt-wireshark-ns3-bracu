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9" r:id="rId30"/>
    <p:sldId id="285" r:id="rId31"/>
    <p:sldId id="286" r:id="rId32"/>
    <p:sldId id="287" r:id="rId33"/>
    <p:sldId id="288" r:id="rId34"/>
    <p:sldId id="284" r:id="rId35"/>
  </p:sldIdLst>
  <p:sldSz cx="12192000" cy="6858000"/>
  <p:notesSz cx="6858000" cy="9144000"/>
  <p:embeddedFontLst>
    <p:embeddedFont>
      <p:font typeface="Corbel" panose="020B0503020204020204" pitchFamily="34" charset="0"/>
      <p:regular r:id="rId37"/>
      <p:bold r:id="rId38"/>
      <p:italic r:id="rId39"/>
      <p:boldItalic r:id="rId40"/>
    </p:embeddedFont>
    <p:embeddedFont>
      <p:font typeface="Arimo" panose="020B0604020202020204" charset="0"/>
      <p:regular r:id="rId41"/>
      <p:bold r:id="rId42"/>
      <p:italic r:id="rId43"/>
      <p:boldItalic r:id="rId44"/>
    </p:embeddedFont>
    <p:embeddedFont>
      <p:font typeface="Calisto MT" panose="02040603050505030304" pitchFamily="18" charset="0"/>
      <p:regular r:id="rId45"/>
      <p:bold r:id="rId46"/>
      <p:italic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Tahoma" panose="020B0604030504040204" pitchFamily="3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m3mbY+b8ml4USl6YG1tCZx/d+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8C1001-B7D6-470B-A617-D53509635189}">
  <a:tblStyle styleId="{508C1001-B7D6-470B-A617-D5350963518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tcBdr/>
        <a:fill>
          <a:solidFill>
            <a:srgbClr val="CCE2F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2F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92275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Inefficient:</a:t>
            </a:r>
            <a:r>
              <a:rPr lang="en-US"/>
              <a:t>   Updates consume bandwidth and router CPU resources.</a:t>
            </a:r>
            <a:endParaRPr/>
          </a:p>
          <a:p>
            <a:pPr marL="1692275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Periodic updates are </a:t>
            </a:r>
            <a:r>
              <a:rPr lang="en-US">
                <a:solidFill>
                  <a:srgbClr val="FF0000"/>
                </a:solidFill>
              </a:rPr>
              <a:t>always sent</a:t>
            </a:r>
            <a:r>
              <a:rPr lang="en-US"/>
              <a:t> even there have been no changes for weeks or months.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Serial 0/0/0</a:t>
            </a:r>
            <a:r>
              <a:rPr lang="en-US"/>
              <a:t> interface with a metric of 1.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Fa0/0</a:t>
            </a:r>
            <a:r>
              <a:rPr lang="en-US"/>
              <a:t>  interface with a metric of 1.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0/0/0 </a:t>
            </a:r>
            <a:r>
              <a:rPr lang="en-US"/>
              <a:t>interface with a metric of 1.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10.2.0.0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0/0/1</a:t>
            </a:r>
            <a:r>
              <a:rPr lang="en-US"/>
              <a:t> interface with a metric of 1.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10.4.0.0</a:t>
            </a:r>
            <a:r>
              <a:rPr lang="en-US"/>
              <a:t> out the </a:t>
            </a:r>
            <a:r>
              <a:rPr lang="en-US">
                <a:solidFill>
                  <a:srgbClr val="FFFF00"/>
                </a:solidFill>
              </a:rPr>
              <a:t>S0/0/0</a:t>
            </a:r>
            <a:r>
              <a:rPr lang="en-US"/>
              <a:t> interface with a metric of 1.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Fa0/0 </a:t>
            </a:r>
            <a:r>
              <a:rPr lang="en-US"/>
              <a:t>interface with a metric of 1.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10.2.0.0 </a:t>
            </a:r>
            <a:r>
              <a:rPr lang="en-US"/>
              <a:t>and adds it to its routing table.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R1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10.1.0.0 </a:t>
            </a:r>
            <a:r>
              <a:rPr lang="en-US"/>
              <a:t>and adds it to its routing table.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R3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10.4.0.0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/>
              <a:t> out the S0/0/0 interface with a metric of 1  -  </a:t>
            </a:r>
            <a:r>
              <a:rPr lang="en-US">
                <a:solidFill>
                  <a:srgbClr val="FF0000"/>
                </a:solidFill>
              </a:rPr>
              <a:t>AGAIN!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00B050"/>
                </a:solidFill>
              </a:rPr>
              <a:t>When R2 receives the update</a:t>
            </a:r>
            <a:r>
              <a:rPr lang="en-US"/>
              <a:t>, there is </a:t>
            </a:r>
            <a:r>
              <a:rPr lang="en-US">
                <a:solidFill>
                  <a:srgbClr val="FF0000"/>
                </a:solidFill>
              </a:rPr>
              <a:t>no change</a:t>
            </a:r>
            <a:r>
              <a:rPr lang="en-US"/>
              <a:t> in information so the update is ignored.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7" name="Google Shape;5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Sends an update about networks </a:t>
            </a:r>
            <a:r>
              <a:rPr lang="en-US" sz="1200">
                <a:solidFill>
                  <a:srgbClr val="FF0000"/>
                </a:solidFill>
              </a:rPr>
              <a:t>10.3.0.0</a:t>
            </a:r>
            <a:r>
              <a:rPr lang="en-US" sz="1200"/>
              <a:t> with a metric of 1 and </a:t>
            </a:r>
            <a:r>
              <a:rPr lang="en-US" sz="1200">
                <a:solidFill>
                  <a:srgbClr val="FF0000"/>
                </a:solidFill>
              </a:rPr>
              <a:t>10.4.0.0</a:t>
            </a:r>
            <a:r>
              <a:rPr lang="en-US" sz="1200"/>
              <a:t> with a metric of 2 out the </a:t>
            </a:r>
            <a:r>
              <a:rPr lang="en-US" sz="1200">
                <a:solidFill>
                  <a:srgbClr val="FF0000"/>
                </a:solidFill>
              </a:rPr>
              <a:t>Serial 0/0/0</a:t>
            </a:r>
            <a:r>
              <a:rPr lang="en-US" sz="1200"/>
              <a:t> interface.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Similarly sends updates about networks </a:t>
            </a:r>
            <a:r>
              <a:rPr lang="en-US" sz="1200">
                <a:solidFill>
                  <a:srgbClr val="FF0000"/>
                </a:solidFill>
              </a:rPr>
              <a:t>10.1.0.0</a:t>
            </a:r>
            <a:r>
              <a:rPr lang="en-US" sz="1200"/>
              <a:t> with a metric of 2 and </a:t>
            </a:r>
            <a:r>
              <a:rPr lang="en-US" sz="1200">
                <a:solidFill>
                  <a:srgbClr val="FF0000"/>
                </a:solidFill>
              </a:rPr>
              <a:t>10.2.0.0</a:t>
            </a:r>
            <a:r>
              <a:rPr lang="en-US" sz="1200"/>
              <a:t> with a metric of 1 out the </a:t>
            </a:r>
            <a:r>
              <a:rPr lang="en-US" sz="1200">
                <a:solidFill>
                  <a:srgbClr val="FF0000"/>
                </a:solidFill>
              </a:rPr>
              <a:t>Serial 0/0/1</a:t>
            </a:r>
            <a:r>
              <a:rPr lang="en-US" sz="1200"/>
              <a:t> interface.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Sends an update about network </a:t>
            </a:r>
            <a:r>
              <a:rPr lang="en-US" sz="1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10.4.0.0</a:t>
            </a:r>
            <a:r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out the S0/0/0 interface with a metric of 1  -  </a:t>
            </a:r>
            <a:r>
              <a:rPr lang="en-US" sz="1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AGAIN!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lang="en-US" sz="1200" b="0" i="0" u="none" strike="noStrike" cap="non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When R2 receives the update</a:t>
            </a:r>
            <a:r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there is </a:t>
            </a:r>
            <a:r>
              <a:rPr lang="en-US" sz="12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 change</a:t>
            </a:r>
            <a:r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information so the update is ignored.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177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" name="Google Shape;5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10.4.0.0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2" name="Google Shape;6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10.1.0.0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4" name="Google Shape;63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Therefore, network administrators </a:t>
            </a:r>
            <a:r>
              <a:rPr lang="en-US" b="1" dirty="0" smtClean="0"/>
              <a:t>prefer routing protocols with faster convergence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660" name="Google Shape;66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Therefore, network administrators </a:t>
            </a:r>
            <a:r>
              <a:rPr lang="en-US" b="1" dirty="0" smtClean="0"/>
              <a:t>prefer routing protocols with faster convergence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660" name="Google Shape;66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78639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 As you see in this graph, there is only one link between A and the other parts of the network.</a:t>
            </a:r>
          </a:p>
          <a:p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 Now imagine that the link between A and B is cut.</a:t>
            </a:r>
          </a:p>
          <a:p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 At this time, B corrects its table.</a:t>
            </a:r>
          </a:p>
          <a:p>
            <a:endParaRPr lang="en-US" sz="1200" b="0" i="0" u="none" strike="noStrike" cap="none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697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8" name="Google Shape;66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5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5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5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5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5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5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1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3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53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4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6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5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5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8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8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5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9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59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0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6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1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6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4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4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4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4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4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4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>
            <a:spLocks noGrp="1"/>
          </p:cNvSpPr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</a:t>
            </a:r>
            <a:br>
              <a:rPr lang="en-US"/>
            </a:br>
            <a:r>
              <a:rPr lang="en-US" sz="3200"/>
              <a:t>Routing Algorithm</a:t>
            </a:r>
            <a:r>
              <a:rPr lang="en-US" sz="2800"/>
              <a:t/>
            </a:r>
            <a:br>
              <a:rPr lang="en-US" sz="2800"/>
            </a:br>
            <a:r>
              <a:rPr lang="en-US" sz="2400" b="1" i="1"/>
              <a:t>Distance Vector Routing</a:t>
            </a:r>
            <a:endParaRPr sz="5400" b="1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>
            <a:spLocks noGrp="1"/>
          </p:cNvSpPr>
          <p:nvPr>
            <p:ph type="title"/>
          </p:nvPr>
        </p:nvSpPr>
        <p:spPr>
          <a:xfrm>
            <a:off x="1591925" y="54553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44" name="Google Shape;144;p2"/>
          <p:cNvSpPr txBox="1">
            <a:spLocks noGrp="1"/>
          </p:cNvSpPr>
          <p:nvPr>
            <p:ph type="body" idx="1"/>
          </p:nvPr>
        </p:nvSpPr>
        <p:spPr>
          <a:xfrm>
            <a:off x="1591925" y="1768839"/>
            <a:ext cx="10018713" cy="475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3590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55"/>
              <a:buFont typeface="Arial"/>
              <a:buChar char="•"/>
            </a:pPr>
            <a:r>
              <a:rPr lang="en-US" sz="3900"/>
              <a:t>understand principles behind network layer services:</a:t>
            </a:r>
            <a:endParaRPr/>
          </a:p>
          <a:p>
            <a:pPr marL="742950" lvl="1" indent="-322262" algn="l" rtl="0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SzPts val="5075"/>
              <a:buFont typeface="Arial"/>
              <a:buChar char="•"/>
            </a:pPr>
            <a:r>
              <a:rPr lang="en-US" sz="4000"/>
              <a:t>routing algorithms</a:t>
            </a:r>
            <a:endParaRPr sz="2800"/>
          </a:p>
          <a:p>
            <a:pPr marL="1200150" lvl="2" indent="-285750" algn="l" rtl="0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lang="en-US" sz="3600" b="1"/>
              <a:t>distance vector</a:t>
            </a:r>
            <a:endParaRPr sz="2400"/>
          </a:p>
          <a:p>
            <a:pPr marL="1200150" lvl="2" indent="-285750" algn="l" rtl="0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lang="en-US" sz="3600" b="1"/>
              <a:t>link state</a:t>
            </a:r>
            <a:endParaRPr sz="3600" b="1"/>
          </a:p>
          <a:p>
            <a:pPr marL="0" lvl="0" indent="0" algn="l" rtl="0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145" name="Google Shape;145;p2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>
            <a:spLocks noGrp="1"/>
          </p:cNvSpPr>
          <p:nvPr>
            <p:ph type="title"/>
          </p:nvPr>
        </p:nvSpPr>
        <p:spPr>
          <a:xfrm>
            <a:off x="1484310" y="124098"/>
            <a:ext cx="10018713" cy="91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52" name="Google Shape;152;p4"/>
          <p:cNvSpPr txBox="1">
            <a:spLocks noGrp="1"/>
          </p:cNvSpPr>
          <p:nvPr>
            <p:ph type="body" idx="1"/>
          </p:nvPr>
        </p:nvSpPr>
        <p:spPr>
          <a:xfrm>
            <a:off x="1340619" y="1338489"/>
            <a:ext cx="10608127" cy="4711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946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Internet is divided into autonomous systems (AS). </a:t>
            </a:r>
            <a:endParaRPr sz="3200" dirty="0">
              <a:latin typeface="Arimo"/>
              <a:ea typeface="Arimo"/>
              <a:cs typeface="Arimo"/>
              <a:sym typeface="Arimo"/>
            </a:endParaRPr>
          </a:p>
          <a:p>
            <a:pPr marL="285750" lvl="0" indent="-294640" algn="just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An AS = a group of networks and routers controlled by one organization. </a:t>
            </a:r>
            <a:endParaRPr sz="3200" dirty="0">
              <a:latin typeface="Arimo"/>
              <a:ea typeface="Arimo"/>
              <a:cs typeface="Arimo"/>
              <a:sym typeface="Arimo"/>
            </a:endParaRPr>
          </a:p>
          <a:p>
            <a:pPr marL="285750" lvl="0" indent="0" algn="just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endParaRPr sz="3200" dirty="0">
              <a:latin typeface="Arimo"/>
              <a:ea typeface="Arimo"/>
              <a:cs typeface="Arimo"/>
              <a:sym typeface="Arimo"/>
            </a:endParaRPr>
          </a:p>
          <a:p>
            <a:pPr marL="285750" lvl="0" indent="-294640" algn="just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lang="en-US" sz="3200" b="1" i="1" dirty="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inside</a:t>
            </a: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 an autonomous systems(AS) </a:t>
            </a:r>
            <a:r>
              <a:rPr lang="en-US" sz="3200" dirty="0" smtClean="0"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3200" b="1" dirty="0" smtClean="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intra-domain </a:t>
            </a:r>
            <a:r>
              <a:rPr lang="en-US" sz="3200" b="1" dirty="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routing</a:t>
            </a:r>
            <a:r>
              <a:rPr lang="en-US" sz="3200" dirty="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 </a:t>
            </a:r>
            <a:endParaRPr sz="3200" dirty="0">
              <a:latin typeface="Arimo"/>
              <a:ea typeface="Arimo"/>
              <a:cs typeface="Arimo"/>
              <a:sym typeface="Arimo"/>
            </a:endParaRPr>
          </a:p>
          <a:p>
            <a:pPr marL="285750" lvl="0" indent="0" algn="just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endParaRPr sz="3200" dirty="0">
              <a:latin typeface="Arimo"/>
              <a:ea typeface="Arimo"/>
              <a:cs typeface="Arimo"/>
              <a:sym typeface="Arimo"/>
            </a:endParaRPr>
          </a:p>
          <a:p>
            <a:pPr marL="285750" lvl="0" indent="-294640" algn="just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lang="en-US" sz="3200" b="1" i="1" dirty="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between</a:t>
            </a:r>
            <a:r>
              <a:rPr lang="en-US" sz="3200" dirty="0">
                <a:latin typeface="Arimo"/>
                <a:ea typeface="Arimo"/>
                <a:cs typeface="Arimo"/>
                <a:sym typeface="Arimo"/>
              </a:rPr>
              <a:t> autonomous systems(AS) </a:t>
            </a:r>
            <a:r>
              <a:rPr lang="en-US" sz="3200" dirty="0" smtClean="0"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3200" b="1" dirty="0" smtClean="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inter-domain </a:t>
            </a:r>
            <a:r>
              <a:rPr lang="en-US" sz="3200" b="1" dirty="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routing.</a:t>
            </a:r>
            <a:endParaRPr sz="3200" b="1" dirty="0">
              <a:solidFill>
                <a:srgbClr val="1186C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endParaRPr dirty="0"/>
          </a:p>
        </p:txBody>
      </p:sp>
      <p:sp>
        <p:nvSpPr>
          <p:cNvPr id="153" name="Google Shape;153;p4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1484310" y="263524"/>
            <a:ext cx="10018713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ldNum" idx="12"/>
          </p:nvPr>
        </p:nvSpPr>
        <p:spPr>
          <a:xfrm>
            <a:off x="10951856" y="604969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3527" y="1460827"/>
            <a:ext cx="8624616" cy="47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9368850" y="2323475"/>
            <a:ext cx="1379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RIP/ OSPF</a:t>
            </a:r>
            <a:endParaRPr sz="1800" b="1" i="0" u="none" strike="noStrike" cap="non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1591925" y="128309"/>
            <a:ext cx="10018713" cy="93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Popular Routing Protocols</a:t>
            </a:r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sldNum" idx="12"/>
          </p:nvPr>
        </p:nvSpPr>
        <p:spPr>
          <a:xfrm>
            <a:off x="11290174" y="612355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" descr="Routing Protocols » CS Tale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3932" y="1087638"/>
            <a:ext cx="7432765" cy="5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>
            <a:spLocks noGrp="1"/>
          </p:cNvSpPr>
          <p:nvPr>
            <p:ph type="title"/>
          </p:nvPr>
        </p:nvSpPr>
        <p:spPr>
          <a:xfrm>
            <a:off x="1433578" y="0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Algorithms</a:t>
            </a:r>
            <a:endParaRPr/>
          </a:p>
        </p:txBody>
      </p:sp>
      <p:sp>
        <p:nvSpPr>
          <p:cNvPr id="178" name="Google Shape;178;p6"/>
          <p:cNvSpPr txBox="1">
            <a:spLocks noGrp="1"/>
          </p:cNvSpPr>
          <p:nvPr>
            <p:ph type="body" idx="1"/>
          </p:nvPr>
        </p:nvSpPr>
        <p:spPr>
          <a:xfrm>
            <a:off x="755903" y="1572896"/>
            <a:ext cx="7016497" cy="427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Given a set of routers and links connecting the routers.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endParaRPr sz="3600" dirty="0"/>
          </a:p>
          <a:p>
            <a:pPr marL="285750" lvl="0" indent="-33147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Routing algorithm finds a “</a:t>
            </a:r>
            <a:r>
              <a:rPr lang="en-US" sz="3600" dirty="0">
                <a:solidFill>
                  <a:srgbClr val="FF0000"/>
                </a:solidFill>
              </a:rPr>
              <a:t>good</a:t>
            </a:r>
            <a:r>
              <a:rPr lang="en-US" sz="3600" dirty="0"/>
              <a:t>” path from the source to destination router.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endParaRPr sz="3600" dirty="0"/>
          </a:p>
          <a:p>
            <a:pPr marL="285750" lvl="0" indent="-33147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Good path = </a:t>
            </a:r>
            <a:r>
              <a:rPr lang="en-US" sz="3600" dirty="0" smtClean="0"/>
              <a:t>Lowest </a:t>
            </a:r>
            <a:r>
              <a:rPr lang="en-US" sz="3600" dirty="0"/>
              <a:t>cost path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endParaRPr dirty="0"/>
          </a:p>
        </p:txBody>
      </p:sp>
      <p:sp>
        <p:nvSpPr>
          <p:cNvPr id="179" name="Google Shape;179;p6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314375"/>
            <a:ext cx="4171668" cy="27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1157995" y="14016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1"/>
          </p:nvPr>
        </p:nvSpPr>
        <p:spPr>
          <a:xfrm>
            <a:off x="1310045" y="1346052"/>
            <a:ext cx="10018800" cy="551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45000"/>
              <a:buFont typeface="Arial"/>
              <a:buNone/>
            </a:pPr>
            <a:r>
              <a:rPr lang="en-US" sz="3900" b="1" dirty="0">
                <a:solidFill>
                  <a:srgbClr val="7D28CD"/>
                </a:solidFill>
              </a:rPr>
              <a:t>Global:</a:t>
            </a:r>
            <a:endParaRPr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Every router knows the whole network (all nodes, all links, and their costs).</a:t>
            </a:r>
            <a:endParaRPr sz="3800"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endParaRPr lang="en-US" sz="3300" dirty="0" smtClean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 smtClean="0"/>
              <a:t>Each </a:t>
            </a:r>
            <a:r>
              <a:rPr lang="en-US" sz="3300" dirty="0"/>
              <a:t>router builds a complete map (topology).</a:t>
            </a:r>
            <a:endParaRPr sz="3800"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endParaRPr lang="en-US" sz="3300" dirty="0" smtClean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 smtClean="0"/>
              <a:t>Uses </a:t>
            </a:r>
            <a:r>
              <a:rPr lang="en-US" sz="3300" b="1" dirty="0">
                <a:solidFill>
                  <a:srgbClr val="1186C3"/>
                </a:solidFill>
              </a:rPr>
              <a:t>link state algorithms </a:t>
            </a:r>
            <a:r>
              <a:rPr lang="en-US" sz="3300" dirty="0"/>
              <a:t>(like </a:t>
            </a:r>
            <a:r>
              <a:rPr lang="en-US" sz="3300" dirty="0" err="1"/>
              <a:t>Dijkstra’s</a:t>
            </a:r>
            <a:r>
              <a:rPr lang="en-US" sz="3300" dirty="0"/>
              <a:t> shortest path).</a:t>
            </a:r>
            <a:endParaRPr sz="3800" dirty="0"/>
          </a:p>
          <a:p>
            <a:pPr marL="62864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0000"/>
              <a:buNone/>
            </a:pPr>
            <a:r>
              <a:rPr lang="en-US" sz="3200" dirty="0"/>
              <a:t/>
            </a:r>
            <a:br>
              <a:rPr lang="en-US" sz="3200" dirty="0"/>
            </a:br>
            <a:r>
              <a:rPr lang="en-US" sz="3900" b="1" dirty="0">
                <a:solidFill>
                  <a:srgbClr val="7D28CD"/>
                </a:solidFill>
              </a:rPr>
              <a:t>Decentralized:</a:t>
            </a:r>
            <a:r>
              <a:rPr lang="en-US" sz="2600" b="1" dirty="0">
                <a:solidFill>
                  <a:srgbClr val="7D28CD"/>
                </a:solidFill>
              </a:rPr>
              <a:t> </a:t>
            </a:r>
            <a:endParaRPr sz="3000" b="1" dirty="0">
              <a:solidFill>
                <a:srgbClr val="7D28CD"/>
              </a:solidFill>
            </a:endParaRPr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Each router only knows about its neighbors and the cost to reach them.</a:t>
            </a:r>
            <a:endParaRPr sz="3800" dirty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endParaRPr lang="en-US" sz="3300" dirty="0" smtClean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 smtClean="0"/>
              <a:t>Routers </a:t>
            </a:r>
            <a:r>
              <a:rPr lang="en-US" sz="3300" dirty="0"/>
              <a:t>share information with neighbors and update step by step.</a:t>
            </a:r>
            <a:endParaRPr sz="3800" dirty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endParaRPr lang="en-US" sz="3300" dirty="0" smtClean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 smtClean="0"/>
              <a:t>Uses </a:t>
            </a:r>
            <a:r>
              <a:rPr lang="en-US" sz="3300" b="1" dirty="0">
                <a:solidFill>
                  <a:srgbClr val="1186C3"/>
                </a:solidFill>
              </a:rPr>
              <a:t>distance vector algorithms</a:t>
            </a:r>
            <a:r>
              <a:rPr lang="en-US" sz="3300" dirty="0"/>
              <a:t> (like Bellman-Ford).</a:t>
            </a:r>
            <a:endParaRPr sz="3800" dirty="0"/>
          </a:p>
          <a:p>
            <a:pPr marL="62864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41"/>
              <a:buNone/>
            </a:pPr>
            <a:r>
              <a:rPr lang="en-US" sz="3200" dirty="0"/>
              <a:t/>
            </a:r>
            <a:br>
              <a:rPr lang="en-US" sz="3200" dirty="0"/>
            </a:br>
            <a:endParaRPr b="1" dirty="0">
              <a:solidFill>
                <a:srgbClr val="1186C3"/>
              </a:solidFill>
            </a:endParaRPr>
          </a:p>
        </p:txBody>
      </p:sp>
      <p:sp>
        <p:nvSpPr>
          <p:cNvPr id="189" name="Google Shape;189;p8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Decentralized - Free business ic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Distance Vector Algorithm</a:t>
            </a:r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>
            <a:spLocks noGrp="1"/>
          </p:cNvSpPr>
          <p:nvPr>
            <p:ph type="title" idx="4294967295"/>
          </p:nvPr>
        </p:nvSpPr>
        <p:spPr>
          <a:xfrm>
            <a:off x="1484310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Distance vector algorithm </a:t>
            </a:r>
            <a:endParaRPr sz="4400"/>
          </a:p>
        </p:txBody>
      </p:sp>
      <p:sp>
        <p:nvSpPr>
          <p:cNvPr id="203" name="Google Shape;203;p7"/>
          <p:cNvSpPr txBox="1">
            <a:spLocks noGrp="1"/>
          </p:cNvSpPr>
          <p:nvPr>
            <p:ph type="body" idx="4294967295"/>
          </p:nvPr>
        </p:nvSpPr>
        <p:spPr>
          <a:xfrm>
            <a:off x="1126653" y="1066088"/>
            <a:ext cx="10376369" cy="560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Based on </a:t>
            </a:r>
            <a:r>
              <a:rPr lang="en-US" sz="3600" b="1" dirty="0"/>
              <a:t>Bellman-Ford Algorithm</a:t>
            </a:r>
            <a:r>
              <a:rPr lang="en-US" sz="3600" dirty="0"/>
              <a:t>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Each router finds </a:t>
            </a:r>
            <a:r>
              <a:rPr lang="en-US" sz="3600" b="1" dirty="0"/>
              <a:t>shortest paths</a:t>
            </a:r>
            <a:r>
              <a:rPr lang="en-US" sz="3600" dirty="0"/>
              <a:t> to all destinations.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Shortest path cost can be: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Hop count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Link delay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Bandwidth</a:t>
            </a:r>
            <a:endParaRPr sz="3200"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Uses a </a:t>
            </a:r>
            <a:r>
              <a:rPr lang="en-US" sz="3600" b="1" dirty="0"/>
              <a:t>weighted network (topology)</a:t>
            </a:r>
            <a:r>
              <a:rPr lang="en-US" sz="3600" dirty="0"/>
              <a:t>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endParaRPr dirty="0"/>
          </a:p>
        </p:txBody>
      </p:sp>
      <p:sp>
        <p:nvSpPr>
          <p:cNvPr id="204" name="Google Shape;204;p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5" name="Google Shape;205;p7" descr="Distance Vector Routing Algorithm | Example | Gate Vidyala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9557" y="2677386"/>
            <a:ext cx="3593465" cy="280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>
            <a:spLocks noGrp="1"/>
          </p:cNvSpPr>
          <p:nvPr>
            <p:ph type="title" idx="4294967295"/>
          </p:nvPr>
        </p:nvSpPr>
        <p:spPr>
          <a:xfrm>
            <a:off x="1366745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How Does It Work?</a:t>
            </a:r>
            <a:endParaRPr/>
          </a:p>
        </p:txBody>
      </p:sp>
      <p:sp>
        <p:nvSpPr>
          <p:cNvPr id="212" name="Google Shape;212;p9"/>
          <p:cNvSpPr txBox="1">
            <a:spLocks noGrp="1"/>
          </p:cNvSpPr>
          <p:nvPr>
            <p:ph type="body" idx="4294967295"/>
          </p:nvPr>
        </p:nvSpPr>
        <p:spPr>
          <a:xfrm>
            <a:off x="880985" y="1358856"/>
            <a:ext cx="9825202" cy="4281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keeps a </a:t>
            </a:r>
            <a:r>
              <a:rPr lang="en-US" sz="3600" b="1">
                <a:solidFill>
                  <a:srgbClr val="1186C3"/>
                </a:solidFill>
              </a:rPr>
              <a:t>Distance Vector (table)</a:t>
            </a:r>
            <a:r>
              <a:rPr lang="en-US" sz="3600"/>
              <a:t>.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Router </a:t>
            </a:r>
            <a:r>
              <a:rPr lang="en-US" sz="3600" b="1">
                <a:solidFill>
                  <a:srgbClr val="1186C3"/>
                </a:solidFill>
              </a:rPr>
              <a:t>shares its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with neighbors regularly.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When a router gets a table from a neighbor, it </a:t>
            </a:r>
            <a:r>
              <a:rPr lang="en-US" sz="3600" b="1">
                <a:solidFill>
                  <a:srgbClr val="1186C3"/>
                </a:solidFill>
              </a:rPr>
              <a:t>updates its own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using the Bellman-Ford rule.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Repeat until all routers know the shortest paths.</a:t>
            </a:r>
            <a:endParaRPr sz="3600"/>
          </a:p>
        </p:txBody>
      </p:sp>
      <p:sp>
        <p:nvSpPr>
          <p:cNvPr id="213" name="Google Shape;213;p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9" name="Google Shape;219;p10" descr="Distance Vector Routing (DVR) Protocol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10" descr="Distance Vector Routing Algorithm | Example | Gate Vidyala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919" y="997543"/>
            <a:ext cx="3593465" cy="2807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10"/>
          <p:cNvGraphicFramePr/>
          <p:nvPr>
            <p:extLst>
              <p:ext uri="{D42A27DB-BD31-4B8C-83A1-F6EECF244321}">
                <p14:modId xmlns:p14="http://schemas.microsoft.com/office/powerpoint/2010/main" val="951174076"/>
              </p:ext>
            </p:extLst>
          </p:nvPr>
        </p:nvGraphicFramePr>
        <p:xfrm>
          <a:off x="1259242" y="997543"/>
          <a:ext cx="1939100" cy="1766910"/>
        </p:xfrm>
        <a:graphic>
          <a:graphicData uri="http://schemas.openxmlformats.org/drawingml/2006/table">
            <a:tbl>
              <a:tblPr firstRow="1" bandRow="1">
                <a:noFill/>
                <a:tableStyleId>{508C1001-B7D6-470B-A617-D53509635189}</a:tableStyleId>
              </a:tblPr>
              <a:tblGrid>
                <a:gridCol w="93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Node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Distance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B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C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D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2" name="Google Shape;222;p10"/>
          <p:cNvSpPr txBox="1"/>
          <p:nvPr/>
        </p:nvSpPr>
        <p:spPr>
          <a:xfrm>
            <a:off x="148336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D Table</a:t>
            </a:r>
            <a:endParaRPr sz="16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10"/>
          <p:cNvGraphicFramePr/>
          <p:nvPr>
            <p:extLst>
              <p:ext uri="{D42A27DB-BD31-4B8C-83A1-F6EECF244321}">
                <p14:modId xmlns:p14="http://schemas.microsoft.com/office/powerpoint/2010/main" val="1229118714"/>
              </p:ext>
            </p:extLst>
          </p:nvPr>
        </p:nvGraphicFramePr>
        <p:xfrm>
          <a:off x="7162476" y="967185"/>
          <a:ext cx="1939100" cy="1827625"/>
        </p:xfrm>
        <a:graphic>
          <a:graphicData uri="http://schemas.openxmlformats.org/drawingml/2006/table">
            <a:tbl>
              <a:tblPr firstRow="1" bandRow="1">
                <a:noFill/>
                <a:tableStyleId>{508C1001-B7D6-470B-A617-D53509635189}</a:tableStyleId>
              </a:tblPr>
              <a:tblGrid>
                <a:gridCol w="9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Node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Distance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 Info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B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C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D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11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4" name="Google Shape;224;p10"/>
          <p:cNvSpPr txBox="1"/>
          <p:nvPr/>
        </p:nvSpPr>
        <p:spPr>
          <a:xfrm>
            <a:off x="7306163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C Table</a:t>
            </a:r>
            <a:endParaRPr sz="16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88250" y="1369345"/>
            <a:ext cx="483577" cy="289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91044" y="5174585"/>
            <a:ext cx="9677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Cost to a destination </a:t>
            </a:r>
            <a:r>
              <a:rPr lang="en-IN" sz="2400" dirty="0" smtClean="0">
                <a:latin typeface="Corbel" panose="020B0503020204020204" pitchFamily="34" charset="0"/>
              </a:rPr>
              <a:t>==cost(to </a:t>
            </a:r>
            <a:r>
              <a:rPr lang="en-IN" sz="2400" dirty="0" err="1">
                <a:latin typeface="Corbel" panose="020B0503020204020204" pitchFamily="34" charset="0"/>
              </a:rPr>
              <a:t>neighbor</a:t>
            </a:r>
            <a:r>
              <a:rPr lang="en-IN" sz="2400" dirty="0">
                <a:latin typeface="Corbel" panose="020B0503020204020204" pitchFamily="34" charset="0"/>
              </a:rPr>
              <a:t>) + </a:t>
            </a:r>
            <a:r>
              <a:rPr lang="en-IN" sz="2400" dirty="0" err="1">
                <a:latin typeface="Corbel" panose="020B0503020204020204" pitchFamily="34" charset="0"/>
              </a:rPr>
              <a:t>neighbor’s</a:t>
            </a:r>
            <a:r>
              <a:rPr lang="en-IN" sz="2400" dirty="0">
                <a:latin typeface="Corbel" panose="020B0503020204020204" pitchFamily="34" charset="0"/>
              </a:rPr>
              <a:t> cost(to destination)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6961" y="3054863"/>
            <a:ext cx="49667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Cost </a:t>
            </a:r>
            <a:r>
              <a:rPr lang="en-IN" b="1" dirty="0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to A </a:t>
            </a:r>
            <a:r>
              <a:rPr lang="en-IN" b="1" dirty="0" smtClean="0">
                <a:latin typeface="Corbel" panose="020B0503020204020204" pitchFamily="34" charset="0"/>
              </a:rPr>
              <a:t>= cost(to </a:t>
            </a:r>
            <a:r>
              <a:rPr lang="en-IN" b="1" dirty="0" err="1">
                <a:latin typeface="Corbel" panose="020B0503020204020204" pitchFamily="34" charset="0"/>
              </a:rPr>
              <a:t>neighbor</a:t>
            </a:r>
            <a:r>
              <a:rPr lang="en-IN" b="1" dirty="0">
                <a:latin typeface="Corbel" panose="020B0503020204020204" pitchFamily="34" charset="0"/>
              </a:rPr>
              <a:t>) + </a:t>
            </a:r>
            <a:r>
              <a:rPr lang="en-IN" b="1" dirty="0" err="1">
                <a:latin typeface="Corbel" panose="020B0503020204020204" pitchFamily="34" charset="0"/>
              </a:rPr>
              <a:t>neighbor’s</a:t>
            </a:r>
            <a:r>
              <a:rPr lang="en-IN" b="1" dirty="0">
                <a:latin typeface="Corbel" panose="020B0503020204020204" pitchFamily="34" charset="0"/>
              </a:rPr>
              <a:t> cost(to destination)</a:t>
            </a:r>
            <a:endParaRPr lang="en-IN" b="1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0770" y="3284139"/>
            <a:ext cx="97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rPr>
              <a:t>D Router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523090" y="3284139"/>
            <a:ext cx="22990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Cost to A from D Router</a:t>
            </a:r>
            <a:endParaRPr lang="en-IN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30064" y="359286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rPr>
              <a:t>11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154066" y="3630755"/>
            <a:ext cx="2856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1</a:t>
            </a:r>
            <a:endParaRPr lang="en-IN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55049" y="3606814"/>
            <a:ext cx="2936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rPr>
              <a:t>+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94172" y="1369345"/>
            <a:ext cx="663717" cy="289641"/>
          </a:xfrm>
          <a:prstGeom prst="rect">
            <a:avLst/>
          </a:prstGeom>
          <a:solidFill>
            <a:srgbClr val="CCE2F8"/>
          </a:solidFill>
          <a:ln>
            <a:solidFill>
              <a:srgbClr val="CCE2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12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483360" y="1369345"/>
            <a:ext cx="1651726" cy="3787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22712" y="4572490"/>
            <a:ext cx="37994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solidFill>
                  <a:srgbClr val="0070C0"/>
                </a:solidFill>
                <a:latin typeface="Corbel" panose="020B0503020204020204" pitchFamily="34" charset="0"/>
              </a:rPr>
              <a:t>Distance Vector Algorithm:</a:t>
            </a:r>
            <a:endParaRPr lang="en-I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0.1806 0.0377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23" y="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224" grpId="0"/>
      <p:bldP spid="2" grpId="0" animBg="1"/>
      <p:bldP spid="2" grpId="1" animBg="1"/>
      <p:bldP spid="2" grpId="2" animBg="1"/>
      <p:bldP spid="3" grpId="0"/>
      <p:bldP spid="5" grpId="0"/>
      <p:bldP spid="6" grpId="0"/>
      <p:bldP spid="15" grpId="0"/>
      <p:bldP spid="16" grpId="0"/>
      <p:bldP spid="17" grpId="0"/>
      <p:bldP spid="18" grpId="0"/>
      <p:bldP spid="19" grpId="0" animBg="1"/>
      <p:bldP spid="19" grpId="1" animBg="1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 idx="4294967295"/>
          </p:nvPr>
        </p:nvSpPr>
        <p:spPr>
          <a:xfrm>
            <a:off x="1327556" y="398419"/>
            <a:ext cx="10018713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Periodic Updates of Distance Vector</a:t>
            </a:r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1539991" y="1617324"/>
            <a:ext cx="9599064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Routers regularly send their </a:t>
            </a:r>
            <a:r>
              <a:rPr lang="en-US" sz="3600" b="1" i="0" u="none" strike="noStrike" cap="none" dirty="0">
                <a:solidFill>
                  <a:srgbClr val="7D28CD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entire routing table</a:t>
            </a:r>
            <a:r>
              <a:rPr lang="en-US" sz="3600" b="0" i="0" u="none" strike="noStrike" cap="none" dirty="0">
                <a:solidFill>
                  <a:srgbClr val="7D28CD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to neighbors (e.g., every 30 seconds in RIP). </a:t>
            </a:r>
            <a:endParaRPr lang="en-US" sz="3600" b="0" i="0" u="none" strike="noStrike" cap="none" dirty="0" smtClean="0">
              <a:solidFill>
                <a:srgbClr val="000000"/>
              </a:solidFill>
              <a:latin typeface="Corbel" panose="020B0503020204020204" pitchFamily="34" charset="0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endParaRPr lang="en-US" sz="3600" dirty="0">
              <a:latin typeface="Corbel" panose="020B0503020204020204" pitchFamily="34" charset="0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dirty="0" smtClean="0">
                <a:latin typeface="Corbel" panose="020B0503020204020204" pitchFamily="34" charset="0"/>
              </a:rPr>
              <a:t>These </a:t>
            </a:r>
            <a:r>
              <a:rPr lang="en-US" sz="3600" dirty="0">
                <a:latin typeface="Corbel" panose="020B0503020204020204" pitchFamily="34" charset="0"/>
              </a:rPr>
              <a:t>updates are sent even when there </a:t>
            </a:r>
            <a:r>
              <a:rPr lang="en-US" sz="3600" b="1" dirty="0">
                <a:solidFill>
                  <a:srgbClr val="0070C0"/>
                </a:solidFill>
                <a:latin typeface="Corbel" panose="020B0503020204020204" pitchFamily="34" charset="0"/>
              </a:rPr>
              <a:t>is no change </a:t>
            </a:r>
            <a:r>
              <a:rPr lang="en-US" sz="3600" dirty="0">
                <a:latin typeface="Corbel" panose="020B0503020204020204" pitchFamily="34" charset="0"/>
              </a:rPr>
              <a:t>in the network.</a:t>
            </a:r>
            <a:endParaRPr sz="3600" dirty="0">
              <a:latin typeface="Corbel" panose="020B0503020204020204" pitchFamily="34" charset="0"/>
            </a:endParaRPr>
          </a:p>
          <a:p>
            <a:pPr marL="457200" marR="0" lvl="0" indent="-1625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This is </a:t>
            </a:r>
            <a:r>
              <a:rPr lang="en-US" sz="3600" b="1" i="0" u="none" strike="noStrike" cap="none" dirty="0">
                <a:solidFill>
                  <a:srgbClr val="7D28CD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simple but inefficient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 panose="020B0503020204020204" pitchFamily="34" charset="0"/>
                <a:ea typeface="Corbel"/>
                <a:cs typeface="Corbel"/>
                <a:sym typeface="Corbel"/>
              </a:rPr>
              <a:t>.</a:t>
            </a:r>
            <a:endParaRPr sz="1600" dirty="0">
              <a:latin typeface="Corbel" panose="020B0503020204020204" pitchFamily="34" charset="0"/>
            </a:endParaRPr>
          </a:p>
          <a:p>
            <a:pPr marL="457200" marR="0" lvl="0" indent="-1625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orbel" panose="020B0503020204020204" pitchFamily="34" charset="0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7" descr="dv0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905001"/>
            <a:ext cx="77470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>
            <a:spLocks noGrp="1"/>
          </p:cNvSpPr>
          <p:nvPr>
            <p:ph type="title" idx="4294967295"/>
          </p:nvPr>
        </p:nvSpPr>
        <p:spPr>
          <a:xfrm>
            <a:off x="1552550" y="547041"/>
            <a:ext cx="10018713" cy="41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Operation of Distance Vector</a:t>
            </a:r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4294967295"/>
          </p:nvPr>
        </p:nvSpPr>
        <p:spPr>
          <a:xfrm>
            <a:off x="1676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>
                <a:solidFill>
                  <a:srgbClr val="FF0000"/>
                </a:solidFill>
              </a:rPr>
              <a:t>Periodic Updates: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>
              <a:solidFill>
                <a:srgbClr val="FF0000"/>
              </a:solidFill>
            </a:endParaRPr>
          </a:p>
        </p:txBody>
      </p:sp>
      <p:grpSp>
        <p:nvGrpSpPr>
          <p:cNvPr id="240" name="Google Shape;240;p27"/>
          <p:cNvGrpSpPr/>
          <p:nvPr/>
        </p:nvGrpSpPr>
        <p:grpSpPr>
          <a:xfrm>
            <a:off x="2895600" y="1295400"/>
            <a:ext cx="5715000" cy="1067082"/>
            <a:chOff x="1371600" y="1295400"/>
            <a:chExt cx="5715000" cy="1067082"/>
          </a:xfrm>
        </p:grpSpPr>
        <p:cxnSp>
          <p:nvCxnSpPr>
            <p:cNvPr id="241" name="Google Shape;241;p27"/>
            <p:cNvCxnSpPr>
              <a:stCxn id="242" idx="1"/>
            </p:cNvCxnSpPr>
            <p:nvPr/>
          </p:nvCxnSpPr>
          <p:spPr>
            <a:xfrm flipH="1">
              <a:off x="1371600" y="1526382"/>
              <a:ext cx="1981200" cy="8361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42" name="Google Shape;242;p27"/>
            <p:cNvSpPr txBox="1"/>
            <p:nvPr/>
          </p:nvSpPr>
          <p:spPr>
            <a:xfrm>
              <a:off x="3352800" y="1295400"/>
              <a:ext cx="3733800" cy="461963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Update Timer expires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7"/>
          <p:cNvGrpSpPr/>
          <p:nvPr/>
        </p:nvGrpSpPr>
        <p:grpSpPr>
          <a:xfrm>
            <a:off x="2438400" y="1828801"/>
            <a:ext cx="7467600" cy="4729163"/>
            <a:chOff x="914400" y="1828800"/>
            <a:chExt cx="7467600" cy="4728865"/>
          </a:xfrm>
        </p:grpSpPr>
        <p:sp>
          <p:nvSpPr>
            <p:cNvPr id="244" name="Google Shape;244;p27"/>
            <p:cNvSpPr txBox="1"/>
            <p:nvPr/>
          </p:nvSpPr>
          <p:spPr>
            <a:xfrm>
              <a:off x="5943600" y="1828800"/>
              <a:ext cx="2438400" cy="461934"/>
            </a:xfrm>
            <a:prstGeom prst="rect">
              <a:avLst/>
            </a:prstGeom>
            <a:solidFill>
              <a:srgbClr val="0033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7"/>
            <p:cNvSpPr txBox="1"/>
            <p:nvPr/>
          </p:nvSpPr>
          <p:spPr>
            <a:xfrm>
              <a:off x="914400" y="6095731"/>
              <a:ext cx="2438400" cy="461934"/>
            </a:xfrm>
            <a:prstGeom prst="rect">
              <a:avLst/>
            </a:prstGeom>
            <a:solidFill>
              <a:srgbClr val="0033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7"/>
          <p:cNvGrpSpPr/>
          <p:nvPr/>
        </p:nvGrpSpPr>
        <p:grpSpPr>
          <a:xfrm>
            <a:off x="4343400" y="3200400"/>
            <a:ext cx="4191000" cy="2743200"/>
            <a:chOff x="2819400" y="3200400"/>
            <a:chExt cx="4191000" cy="2743200"/>
          </a:xfrm>
        </p:grpSpPr>
        <p:sp>
          <p:nvSpPr>
            <p:cNvPr id="247" name="Google Shape;247;p27"/>
            <p:cNvSpPr/>
            <p:nvPr/>
          </p:nvSpPr>
          <p:spPr>
            <a:xfrm rot="-5400000">
              <a:off x="4419600" y="3962400"/>
              <a:ext cx="381000" cy="3581400"/>
            </a:xfrm>
            <a:prstGeom prst="rect">
              <a:avLst/>
            </a:prstGeom>
            <a:solidFill>
              <a:srgbClr val="99CC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705600" y="3200400"/>
              <a:ext cx="304800" cy="2057400"/>
            </a:xfrm>
            <a:prstGeom prst="rect">
              <a:avLst/>
            </a:prstGeom>
            <a:solidFill>
              <a:srgbClr val="99CC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7"/>
            <p:cNvSpPr txBox="1"/>
            <p:nvPr/>
          </p:nvSpPr>
          <p:spPr>
            <a:xfrm>
              <a:off x="3505200" y="3733800"/>
              <a:ext cx="2971800" cy="830263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99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is unaware of R3 and its networks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27"/>
          <p:cNvGrpSpPr/>
          <p:nvPr/>
        </p:nvGrpSpPr>
        <p:grpSpPr>
          <a:xfrm>
            <a:off x="1423987" y="2755899"/>
            <a:ext cx="4343400" cy="2055813"/>
            <a:chOff x="152400" y="2590800"/>
            <a:chExt cx="4343400" cy="2056606"/>
          </a:xfrm>
        </p:grpSpPr>
        <p:cxnSp>
          <p:nvCxnSpPr>
            <p:cNvPr id="251" name="Google Shape;251;p27"/>
            <p:cNvCxnSpPr/>
            <p:nvPr/>
          </p:nvCxnSpPr>
          <p:spPr>
            <a:xfrm>
              <a:off x="2819400" y="3124200"/>
              <a:ext cx="16764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2" name="Google Shape;252;p27"/>
            <p:cNvCxnSpPr/>
            <p:nvPr/>
          </p:nvCxnSpPr>
          <p:spPr>
            <a:xfrm rot="5400000">
              <a:off x="1981994" y="3961606"/>
              <a:ext cx="1370806" cy="794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152400" y="2971947"/>
              <a:ext cx="1828800" cy="1200613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Updates sent.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Broadcast!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" name="Google Shape;254;p27" descr="dv05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05200" y="25908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7" descr="dv05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28800" y="35052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>
            <a:spLocks noGrp="1"/>
          </p:cNvSpPr>
          <p:nvPr>
            <p:ph type="title" idx="4294967295"/>
          </p:nvPr>
        </p:nvSpPr>
        <p:spPr>
          <a:xfrm>
            <a:off x="1484311" y="685800"/>
            <a:ext cx="10018713" cy="106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Distance Vector Routing Protocols</a:t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2438400" y="14478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 Discovery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8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2971800"/>
            <a:ext cx="788035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>
            <a:spLocks noGrp="1"/>
          </p:cNvSpPr>
          <p:nvPr>
            <p:ph type="title" idx="4294967295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294967295"/>
          </p:nvPr>
        </p:nvSpPr>
        <p:spPr>
          <a:xfrm>
            <a:off x="1676400" y="3048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 dirty="0">
                <a:solidFill>
                  <a:srgbClr val="7D28CD"/>
                </a:solidFill>
              </a:rPr>
              <a:t>Network Discovery:</a:t>
            </a:r>
            <a:endParaRPr sz="2800" b="1" dirty="0">
              <a:solidFill>
                <a:srgbClr val="7D28CD"/>
              </a:solidFill>
            </a:endParaRPr>
          </a:p>
          <a:p>
            <a:pPr marL="855663" lvl="1" indent="-288925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 dirty="0"/>
              <a:t>Is part of the process of the routing protocol algorithm that enables routers to </a:t>
            </a:r>
            <a:r>
              <a:rPr lang="en-US" sz="2800" dirty="0">
                <a:solidFill>
                  <a:srgbClr val="1186C3"/>
                </a:solidFill>
              </a:rPr>
              <a:t>learn about remote networks for the first time.</a:t>
            </a:r>
            <a:endParaRPr dirty="0">
              <a:solidFill>
                <a:srgbClr val="1186C3"/>
              </a:solidFill>
            </a:endParaRPr>
          </a:p>
        </p:txBody>
      </p:sp>
      <p:pic>
        <p:nvPicPr>
          <p:cNvPr id="271" name="Google Shape;271;p29" descr="dv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0"/>
            <a:ext cx="88392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0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>
            <a:spLocks noGrp="1"/>
          </p:cNvSpPr>
          <p:nvPr>
            <p:ph type="title" idx="4294967295"/>
          </p:nvPr>
        </p:nvSpPr>
        <p:spPr>
          <a:xfrm>
            <a:off x="1543843" y="381001"/>
            <a:ext cx="10018713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927545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285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3636"/>
              <a:buNone/>
            </a:pPr>
            <a:endParaRPr>
              <a:solidFill>
                <a:srgbClr val="FF0000"/>
              </a:solidFill>
            </a:endParaRPr>
          </a:p>
          <a:p>
            <a:pPr marL="285750" lvl="0" indent="-238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 b="1">
                <a:solidFill>
                  <a:srgbClr val="7D28CD"/>
                </a:solidFill>
              </a:rPr>
              <a:t>When a router powers up: </a:t>
            </a:r>
            <a:endParaRPr sz="2800" b="1">
              <a:solidFill>
                <a:srgbClr val="7D28CD"/>
              </a:solidFill>
            </a:endParaRPr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nothing about the network topology.</a:t>
            </a:r>
            <a:endParaRPr sz="2600"/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only the information saved in NVRAM.</a:t>
            </a:r>
            <a:endParaRPr sz="2600"/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Sends updates about its known networks out all ports. </a:t>
            </a:r>
            <a:endParaRPr sz="26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endParaRPr/>
          </a:p>
        </p:txBody>
      </p:sp>
      <p:grpSp>
        <p:nvGrpSpPr>
          <p:cNvPr id="280" name="Google Shape;280;p30"/>
          <p:cNvGrpSpPr/>
          <p:nvPr/>
        </p:nvGrpSpPr>
        <p:grpSpPr>
          <a:xfrm>
            <a:off x="2057400" y="3505200"/>
            <a:ext cx="2438400" cy="182880"/>
            <a:chOff x="533400" y="3505200"/>
            <a:chExt cx="2438400" cy="182880"/>
          </a:xfrm>
        </p:grpSpPr>
        <p:sp>
          <p:nvSpPr>
            <p:cNvPr id="281" name="Google Shape;28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0"/>
          <p:cNvGrpSpPr/>
          <p:nvPr/>
        </p:nvGrpSpPr>
        <p:grpSpPr>
          <a:xfrm>
            <a:off x="2057400" y="3733800"/>
            <a:ext cx="2438400" cy="210312"/>
            <a:chOff x="533400" y="3505200"/>
            <a:chExt cx="2438400" cy="182880"/>
          </a:xfrm>
        </p:grpSpPr>
        <p:sp>
          <p:nvSpPr>
            <p:cNvPr id="285" name="Google Shape;28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30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289" name="Google Shape;28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30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293" name="Google Shape;293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4876800" y="3505200"/>
            <a:ext cx="2438400" cy="182880"/>
            <a:chOff x="533400" y="3505200"/>
            <a:chExt cx="2438400" cy="182880"/>
          </a:xfrm>
        </p:grpSpPr>
        <p:sp>
          <p:nvSpPr>
            <p:cNvPr id="297" name="Google Shape;29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0"/>
          <p:cNvGrpSpPr/>
          <p:nvPr/>
        </p:nvGrpSpPr>
        <p:grpSpPr>
          <a:xfrm>
            <a:off x="4876800" y="3733800"/>
            <a:ext cx="2438400" cy="210312"/>
            <a:chOff x="533400" y="3505200"/>
            <a:chExt cx="2438400" cy="182880"/>
          </a:xfrm>
        </p:grpSpPr>
        <p:sp>
          <p:nvSpPr>
            <p:cNvPr id="301" name="Google Shape;30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05" name="Google Shape;30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09" name="Google Shape;309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30"/>
          <p:cNvGrpSpPr/>
          <p:nvPr/>
        </p:nvGrpSpPr>
        <p:grpSpPr>
          <a:xfrm>
            <a:off x="7772400" y="3505200"/>
            <a:ext cx="2438400" cy="182880"/>
            <a:chOff x="533400" y="3505200"/>
            <a:chExt cx="2438400" cy="182880"/>
          </a:xfrm>
        </p:grpSpPr>
        <p:sp>
          <p:nvSpPr>
            <p:cNvPr id="313" name="Google Shape;31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30"/>
          <p:cNvGrpSpPr/>
          <p:nvPr/>
        </p:nvGrpSpPr>
        <p:grpSpPr>
          <a:xfrm>
            <a:off x="7772400" y="3733800"/>
            <a:ext cx="2438400" cy="210312"/>
            <a:chOff x="533400" y="3505200"/>
            <a:chExt cx="2438400" cy="182880"/>
          </a:xfrm>
        </p:grpSpPr>
        <p:sp>
          <p:nvSpPr>
            <p:cNvPr id="317" name="Google Shape;31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21" name="Google Shape;32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25" name="Google Shape;325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0"/>
          <p:cNvGrpSpPr/>
          <p:nvPr/>
        </p:nvGrpSpPr>
        <p:grpSpPr>
          <a:xfrm>
            <a:off x="1981200" y="1981200"/>
            <a:ext cx="8229600" cy="838200"/>
            <a:chOff x="457200" y="1981200"/>
            <a:chExt cx="8229600" cy="838200"/>
          </a:xfrm>
        </p:grpSpPr>
        <p:sp>
          <p:nvSpPr>
            <p:cNvPr id="329" name="Google Shape;329;p30"/>
            <p:cNvSpPr/>
            <p:nvPr/>
          </p:nvSpPr>
          <p:spPr>
            <a:xfrm>
              <a:off x="914400" y="1981200"/>
              <a:ext cx="1066800" cy="838200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30"/>
            <p:cNvCxnSpPr/>
            <p:nvPr/>
          </p:nvCxnSpPr>
          <p:spPr>
            <a:xfrm>
              <a:off x="1981200" y="2057400"/>
              <a:ext cx="9906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1" name="Google Shape;331;p30"/>
            <p:cNvCxnSpPr/>
            <p:nvPr/>
          </p:nvCxnSpPr>
          <p:spPr>
            <a:xfrm rot="10800000">
              <a:off x="457200" y="2057400"/>
              <a:ext cx="4572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32" name="Google Shape;332;p30"/>
            <p:cNvSpPr/>
            <p:nvPr/>
          </p:nvSpPr>
          <p:spPr>
            <a:xfrm>
              <a:off x="4038600" y="1981200"/>
              <a:ext cx="990600" cy="838200"/>
            </a:xfrm>
            <a:prstGeom prst="ellipse">
              <a:avLst/>
            </a:prstGeom>
            <a:noFill/>
            <a:ln w="38100" cap="flat" cmpd="sng">
              <a:solidFill>
                <a:srgbClr val="531A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30"/>
            <p:cNvCxnSpPr/>
            <p:nvPr/>
          </p:nvCxnSpPr>
          <p:spPr>
            <a:xfrm>
              <a:off x="5105400" y="2743200"/>
              <a:ext cx="9906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4" name="Google Shape;334;p30"/>
            <p:cNvCxnSpPr/>
            <p:nvPr/>
          </p:nvCxnSpPr>
          <p:spPr>
            <a:xfrm rot="10800000">
              <a:off x="2819400" y="2743200"/>
              <a:ext cx="10668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35" name="Google Shape;335;p30"/>
            <p:cNvSpPr/>
            <p:nvPr/>
          </p:nvSpPr>
          <p:spPr>
            <a:xfrm>
              <a:off x="7162800" y="1981200"/>
              <a:ext cx="990600" cy="838200"/>
            </a:xfrm>
            <a:prstGeom prst="ellipse">
              <a:avLst/>
            </a:pr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30"/>
            <p:cNvCxnSpPr/>
            <p:nvPr/>
          </p:nvCxnSpPr>
          <p:spPr>
            <a:xfrm>
              <a:off x="8305800" y="2057400"/>
              <a:ext cx="3810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7" name="Google Shape;337;p30"/>
            <p:cNvCxnSpPr/>
            <p:nvPr/>
          </p:nvCxnSpPr>
          <p:spPr>
            <a:xfrm rot="10800000">
              <a:off x="6019800" y="2057400"/>
              <a:ext cx="11430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38" name="Google Shape;338;p3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1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>
            <a:spLocks noGrp="1"/>
          </p:cNvSpPr>
          <p:nvPr>
            <p:ph type="title" idx="4294967295"/>
          </p:nvPr>
        </p:nvSpPr>
        <p:spPr>
          <a:xfrm>
            <a:off x="1594513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45" name="Google Shape;345;p31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46" name="Google Shape;346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31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50" name="Google Shape;350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31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54" name="Google Shape;354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31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58" name="Google Shape;358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31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62" name="Google Shape;362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1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66" name="Google Shape;366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31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1"/>
          <p:cNvCxnSpPr/>
          <p:nvPr/>
        </p:nvCxnSpPr>
        <p:spPr>
          <a:xfrm rot="10800000">
            <a:off x="1981200" y="2057400"/>
            <a:ext cx="381000" cy="1588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71" name="Google Shape;371;p31"/>
          <p:cNvGrpSpPr/>
          <p:nvPr/>
        </p:nvGrpSpPr>
        <p:grpSpPr>
          <a:xfrm>
            <a:off x="3581400" y="1981201"/>
            <a:ext cx="1524000" cy="307777"/>
            <a:chOff x="2057400" y="1981201"/>
            <a:chExt cx="1219200" cy="307777"/>
          </a:xfrm>
        </p:grpSpPr>
        <p:cxnSp>
          <p:nvCxnSpPr>
            <p:cNvPr id="372" name="Google Shape;372;p31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73" name="Google Shape;373;p31"/>
            <p:cNvSpPr txBox="1"/>
            <p:nvPr/>
          </p:nvSpPr>
          <p:spPr>
            <a:xfrm>
              <a:off x="2209800" y="1981201"/>
              <a:ext cx="838200" cy="307777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>
            <a:spLocks noGrp="1"/>
          </p:cNvSpPr>
          <p:nvPr>
            <p:ph type="title" idx="4294967295"/>
          </p:nvPr>
        </p:nvSpPr>
        <p:spPr>
          <a:xfrm>
            <a:off x="1484311" y="685801"/>
            <a:ext cx="10018713" cy="104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>
            <a:off x="1687513" y="1974851"/>
            <a:ext cx="8839200" cy="3432175"/>
            <a:chOff x="96" y="823"/>
            <a:chExt cx="5568" cy="2162"/>
          </a:xfrm>
        </p:grpSpPr>
        <p:pic>
          <p:nvPicPr>
            <p:cNvPr id="381" name="Google Shape;381;p32" descr="dv10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6" y="823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2" name="Google Shape;382;p32"/>
            <p:cNvGrpSpPr/>
            <p:nvPr/>
          </p:nvGrpSpPr>
          <p:grpSpPr>
            <a:xfrm>
              <a:off x="336" y="2736"/>
              <a:ext cx="1536" cy="96"/>
              <a:chOff x="533400" y="4267200"/>
              <a:chExt cx="2438400" cy="152400"/>
            </a:xfrm>
          </p:grpSpPr>
          <p:sp>
            <p:nvSpPr>
              <p:cNvPr id="383" name="Google Shape;383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32"/>
            <p:cNvGrpSpPr/>
            <p:nvPr/>
          </p:nvGrpSpPr>
          <p:grpSpPr>
            <a:xfrm>
              <a:off x="2112" y="2544"/>
              <a:ext cx="1536" cy="115"/>
              <a:chOff x="533400" y="3505200"/>
              <a:chExt cx="2438400" cy="182880"/>
            </a:xfrm>
          </p:grpSpPr>
          <p:sp>
            <p:nvSpPr>
              <p:cNvPr id="387" name="Google Shape;387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32"/>
            <p:cNvGrpSpPr/>
            <p:nvPr/>
          </p:nvGrpSpPr>
          <p:grpSpPr>
            <a:xfrm>
              <a:off x="2112" y="2736"/>
              <a:ext cx="1536" cy="96"/>
              <a:chOff x="533400" y="4267200"/>
              <a:chExt cx="2438400" cy="152400"/>
            </a:xfrm>
          </p:grpSpPr>
          <p:sp>
            <p:nvSpPr>
              <p:cNvPr id="391" name="Google Shape;391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32"/>
            <p:cNvGrpSpPr/>
            <p:nvPr/>
          </p:nvGrpSpPr>
          <p:grpSpPr>
            <a:xfrm>
              <a:off x="3936" y="2544"/>
              <a:ext cx="1536" cy="115"/>
              <a:chOff x="533400" y="3505200"/>
              <a:chExt cx="2438400" cy="182880"/>
            </a:xfrm>
          </p:grpSpPr>
          <p:sp>
            <p:nvSpPr>
              <p:cNvPr id="395" name="Google Shape;395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32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2" name="Google Shape;402;p32"/>
            <p:cNvSpPr/>
            <p:nvPr/>
          </p:nvSpPr>
          <p:spPr>
            <a:xfrm>
              <a:off x="2448" y="1248"/>
              <a:ext cx="816" cy="528"/>
            </a:xfrm>
            <a:prstGeom prst="ellipse">
              <a:avLst/>
            </a:prstGeom>
            <a:noFill/>
            <a:ln w="38100" cap="flat" cmpd="sng">
              <a:solidFill>
                <a:srgbClr val="531A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32"/>
            <p:cNvGrpSpPr/>
            <p:nvPr/>
          </p:nvGrpSpPr>
          <p:grpSpPr>
            <a:xfrm>
              <a:off x="336" y="2544"/>
              <a:ext cx="1536" cy="115"/>
              <a:chOff x="533400" y="3505200"/>
              <a:chExt cx="2438400" cy="182880"/>
            </a:xfrm>
          </p:grpSpPr>
          <p:sp>
            <p:nvSpPr>
              <p:cNvPr id="404" name="Google Shape;404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" name="Google Shape;407;p32"/>
            <p:cNvGrpSpPr/>
            <p:nvPr/>
          </p:nvGrpSpPr>
          <p:grpSpPr>
            <a:xfrm>
              <a:off x="1296" y="1249"/>
              <a:ext cx="912" cy="194"/>
              <a:chOff x="2057400" y="1981201"/>
              <a:chExt cx="1219200" cy="307777"/>
            </a:xfrm>
          </p:grpSpPr>
          <p:cxnSp>
            <p:nvCxnSpPr>
              <p:cNvPr id="408" name="Google Shape;408;p32"/>
              <p:cNvCxnSpPr/>
              <p:nvPr/>
            </p:nvCxnSpPr>
            <p:spPr>
              <a:xfrm>
                <a:off x="2057400" y="2133600"/>
                <a:ext cx="12192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FF0000">
                    <a:alpha val="49019"/>
                  </a:srgbClr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409" name="Google Shape;409;p32"/>
              <p:cNvSpPr txBox="1"/>
              <p:nvPr/>
            </p:nvSpPr>
            <p:spPr>
              <a:xfrm>
                <a:off x="2209800" y="1981201"/>
                <a:ext cx="838200" cy="307777"/>
              </a:xfrm>
              <a:prstGeom prst="rect">
                <a:avLst/>
              </a:prstGeom>
              <a:solidFill>
                <a:srgbClr val="800000">
                  <a:alpha val="49019"/>
                </a:srgbClr>
              </a:solidFill>
              <a:ln w="25400" cap="flat" cmpd="sng">
                <a:solidFill>
                  <a:srgbClr val="FF0000">
                    <a:alpha val="49019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32"/>
            <p:cNvGrpSpPr/>
            <p:nvPr/>
          </p:nvGrpSpPr>
          <p:grpSpPr>
            <a:xfrm>
              <a:off x="1536" y="1681"/>
              <a:ext cx="912" cy="194"/>
              <a:chOff x="2438400" y="2590800"/>
              <a:chExt cx="1295400" cy="307777"/>
            </a:xfrm>
          </p:grpSpPr>
          <p:cxnSp>
            <p:nvCxnSpPr>
              <p:cNvPr id="411" name="Google Shape;411;p32"/>
              <p:cNvCxnSpPr/>
              <p:nvPr/>
            </p:nvCxnSpPr>
            <p:spPr>
              <a:xfrm rot="10800000">
                <a:off x="2438400" y="2743200"/>
                <a:ext cx="1295400" cy="1587"/>
              </a:xfrm>
              <a:prstGeom prst="straightConnector1">
                <a:avLst/>
              </a:prstGeom>
              <a:noFill/>
              <a:ln w="50800" cap="flat" cmpd="sng">
                <a:solidFill>
                  <a:srgbClr val="7D28CD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412" name="Google Shape;412;p32"/>
              <p:cNvSpPr txBox="1"/>
              <p:nvPr/>
            </p:nvSpPr>
            <p:spPr>
              <a:xfrm>
                <a:off x="2743784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10.3.0.0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32"/>
            <p:cNvGrpSpPr/>
            <p:nvPr/>
          </p:nvGrpSpPr>
          <p:grpSpPr>
            <a:xfrm>
              <a:off x="3312" y="1681"/>
              <a:ext cx="912" cy="194"/>
              <a:chOff x="5257800" y="2590800"/>
              <a:chExt cx="1295400" cy="307777"/>
            </a:xfrm>
          </p:grpSpPr>
          <p:cxnSp>
            <p:nvCxnSpPr>
              <p:cNvPr id="414" name="Google Shape;414;p32"/>
              <p:cNvCxnSpPr/>
              <p:nvPr/>
            </p:nvCxnSpPr>
            <p:spPr>
              <a:xfrm>
                <a:off x="5257800" y="2743200"/>
                <a:ext cx="1295400" cy="1587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415" name="Google Shape;415;p32"/>
              <p:cNvSpPr txBox="1"/>
              <p:nvPr/>
            </p:nvSpPr>
            <p:spPr>
              <a:xfrm>
                <a:off x="5486483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6" name="Google Shape;416;p3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>
            <a:spLocks noGrp="1"/>
          </p:cNvSpPr>
          <p:nvPr>
            <p:ph type="title" idx="4294967295"/>
          </p:nvPr>
        </p:nvSpPr>
        <p:spPr>
          <a:xfrm>
            <a:off x="1484311" y="685801"/>
            <a:ext cx="10018713" cy="91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cxnSp>
        <p:nvCxnSpPr>
          <p:cNvPr id="422" name="Google Shape;422;p33"/>
          <p:cNvCxnSpPr/>
          <p:nvPr/>
        </p:nvCxnSpPr>
        <p:spPr>
          <a:xfrm>
            <a:off x="9753600" y="2133600"/>
            <a:ext cx="457200" cy="1588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23" name="Google Shape;423;p33"/>
          <p:cNvGrpSpPr/>
          <p:nvPr/>
        </p:nvGrpSpPr>
        <p:grpSpPr>
          <a:xfrm>
            <a:off x="1676400" y="2184401"/>
            <a:ext cx="8839200" cy="3432175"/>
            <a:chOff x="96" y="816"/>
            <a:chExt cx="5568" cy="2162"/>
          </a:xfrm>
        </p:grpSpPr>
        <p:pic>
          <p:nvPicPr>
            <p:cNvPr id="424" name="Google Shape;424;p33" descr="dv10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6" y="816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5" name="Google Shape;425;p33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26" name="Google Shape;426;p33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3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3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3"/>
            <p:cNvGrpSpPr/>
            <p:nvPr/>
          </p:nvGrpSpPr>
          <p:grpSpPr>
            <a:xfrm>
              <a:off x="336" y="1248"/>
              <a:ext cx="5136" cy="1584"/>
              <a:chOff x="336" y="1248"/>
              <a:chExt cx="5136" cy="1584"/>
            </a:xfrm>
          </p:grpSpPr>
          <p:grpSp>
            <p:nvGrpSpPr>
              <p:cNvPr id="430" name="Google Shape;430;p33"/>
              <p:cNvGrpSpPr/>
              <p:nvPr/>
            </p:nvGrpSpPr>
            <p:grpSpPr>
              <a:xfrm>
                <a:off x="3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31" name="Google Shape;431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4" name="Google Shape;434;p33"/>
              <p:cNvGrpSpPr/>
              <p:nvPr/>
            </p:nvGrpSpPr>
            <p:grpSpPr>
              <a:xfrm>
                <a:off x="336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35" name="Google Shape;435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8" name="Google Shape;438;p33"/>
              <p:cNvGrpSpPr/>
              <p:nvPr/>
            </p:nvGrpSpPr>
            <p:grpSpPr>
              <a:xfrm>
                <a:off x="2112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39" name="Google Shape;439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2" name="Google Shape;442;p33"/>
              <p:cNvGrpSpPr/>
              <p:nvPr/>
            </p:nvGrpSpPr>
            <p:grpSpPr>
              <a:xfrm>
                <a:off x="2112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43" name="Google Shape;443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6" name="Google Shape;446;p33"/>
              <p:cNvGrpSpPr/>
              <p:nvPr/>
            </p:nvGrpSpPr>
            <p:grpSpPr>
              <a:xfrm>
                <a:off x="39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47" name="Google Shape;447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0" name="Google Shape;450;p33"/>
              <p:cNvSpPr/>
              <p:nvPr/>
            </p:nvSpPr>
            <p:spPr>
              <a:xfrm>
                <a:off x="4464" y="1248"/>
                <a:ext cx="720" cy="528"/>
              </a:xfrm>
              <a:prstGeom prst="ellipse">
                <a:avLst/>
              </a:prstGeom>
              <a:noFill/>
              <a:ln w="38100" cap="flat" cmpd="sng">
                <a:solidFill>
                  <a:srgbClr val="008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1" name="Google Shape;451;p33"/>
              <p:cNvGrpSpPr/>
              <p:nvPr/>
            </p:nvGrpSpPr>
            <p:grpSpPr>
              <a:xfrm>
                <a:off x="1296" y="1249"/>
                <a:ext cx="816" cy="194"/>
                <a:chOff x="2057400" y="1981201"/>
                <a:chExt cx="1219200" cy="307777"/>
              </a:xfrm>
            </p:grpSpPr>
            <p:cxnSp>
              <p:nvCxnSpPr>
                <p:cNvPr id="452" name="Google Shape;452;p33"/>
                <p:cNvCxnSpPr/>
                <p:nvPr/>
              </p:nvCxnSpPr>
              <p:spPr>
                <a:xfrm>
                  <a:off x="2057400" y="2133600"/>
                  <a:ext cx="12192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FF0000">
                      <a:alpha val="49019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53" name="Google Shape;453;p33"/>
                <p:cNvSpPr txBox="1"/>
                <p:nvPr/>
              </p:nvSpPr>
              <p:spPr>
                <a:xfrm>
                  <a:off x="2209799" y="1981201"/>
                  <a:ext cx="838200" cy="307777"/>
                </a:xfrm>
                <a:prstGeom prst="rect">
                  <a:avLst/>
                </a:prstGeom>
                <a:solidFill>
                  <a:srgbClr val="800000">
                    <a:alpha val="49019"/>
                  </a:srgbClr>
                </a:solidFill>
                <a:ln w="25400" cap="flat" cmpd="sng">
                  <a:solidFill>
                    <a:srgbClr val="FF0000">
                      <a:alpha val="49019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10.1.0.0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4" name="Google Shape;454;p33"/>
              <p:cNvGrpSpPr/>
              <p:nvPr/>
            </p:nvGrpSpPr>
            <p:grpSpPr>
              <a:xfrm>
                <a:off x="1488" y="1681"/>
                <a:ext cx="864" cy="194"/>
                <a:chOff x="2438400" y="2590800"/>
                <a:chExt cx="1295400" cy="307777"/>
              </a:xfrm>
            </p:grpSpPr>
            <p:cxnSp>
              <p:nvCxnSpPr>
                <p:cNvPr id="455" name="Google Shape;455;p33"/>
                <p:cNvCxnSpPr/>
                <p:nvPr/>
              </p:nvCxnSpPr>
              <p:spPr>
                <a:xfrm rot="10800000">
                  <a:off x="2438400" y="27432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00B0F0">
                      <a:alpha val="49019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56" name="Google Shape;456;p33"/>
                <p:cNvSpPr txBox="1"/>
                <p:nvPr/>
              </p:nvSpPr>
              <p:spPr>
                <a:xfrm>
                  <a:off x="2742759" y="2590800"/>
                  <a:ext cx="838111" cy="307777"/>
                </a:xfrm>
                <a:prstGeom prst="rect">
                  <a:avLst/>
                </a:prstGeom>
                <a:solidFill>
                  <a:srgbClr val="531A88">
                    <a:alpha val="49019"/>
                  </a:srgbClr>
                </a:solidFill>
                <a:ln w="25400" cap="flat" cmpd="sng">
                  <a:solidFill>
                    <a:srgbClr val="00B0F0">
                      <a:alpha val="49019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10.3.0.0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" name="Google Shape;457;p33"/>
              <p:cNvGrpSpPr/>
              <p:nvPr/>
            </p:nvGrpSpPr>
            <p:grpSpPr>
              <a:xfrm>
                <a:off x="3312" y="1681"/>
                <a:ext cx="912" cy="194"/>
                <a:chOff x="5257799" y="2590800"/>
                <a:chExt cx="1295400" cy="307777"/>
              </a:xfrm>
            </p:grpSpPr>
            <p:cxnSp>
              <p:nvCxnSpPr>
                <p:cNvPr id="458" name="Google Shape;458;p33"/>
                <p:cNvCxnSpPr/>
                <p:nvPr/>
              </p:nvCxnSpPr>
              <p:spPr>
                <a:xfrm>
                  <a:off x="5257799" y="27432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531A88">
                      <a:alpha val="49019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59" name="Google Shape;459;p33"/>
                <p:cNvSpPr txBox="1"/>
                <p:nvPr/>
              </p:nvSpPr>
              <p:spPr>
                <a:xfrm>
                  <a:off x="5486483" y="2590800"/>
                  <a:ext cx="838033" cy="307777"/>
                </a:xfrm>
                <a:prstGeom prst="rect">
                  <a:avLst/>
                </a:prstGeom>
                <a:solidFill>
                  <a:srgbClr val="531A88">
                    <a:alpha val="49019"/>
                  </a:srgbClr>
                </a:solidFill>
                <a:ln w="2540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10.2.0.0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0" name="Google Shape;460;p33"/>
              <p:cNvGrpSpPr/>
              <p:nvPr/>
            </p:nvGrpSpPr>
            <p:grpSpPr>
              <a:xfrm>
                <a:off x="3600" y="1249"/>
                <a:ext cx="960" cy="194"/>
                <a:chOff x="5715000" y="1981200"/>
                <a:chExt cx="1295400" cy="307777"/>
              </a:xfrm>
            </p:grpSpPr>
            <p:cxnSp>
              <p:nvCxnSpPr>
                <p:cNvPr id="461" name="Google Shape;461;p33"/>
                <p:cNvCxnSpPr/>
                <p:nvPr/>
              </p:nvCxnSpPr>
              <p:spPr>
                <a:xfrm rot="10800000">
                  <a:off x="5715000" y="21336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00800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62" name="Google Shape;462;p33"/>
                <p:cNvSpPr txBox="1"/>
                <p:nvPr/>
              </p:nvSpPr>
              <p:spPr>
                <a:xfrm>
                  <a:off x="6019958" y="1981200"/>
                  <a:ext cx="837962" cy="307777"/>
                </a:xfrm>
                <a:prstGeom prst="rect">
                  <a:avLst/>
                </a:prstGeom>
                <a:solidFill>
                  <a:srgbClr val="008000"/>
                </a:solidFill>
                <a:ln w="25400" cap="flat" cmpd="sng">
                  <a:solidFill>
                    <a:srgbClr val="66FF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10.4.0.0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63" name="Google Shape;463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4"/>
          <p:cNvSpPr txBox="1">
            <a:spLocks noGrp="1"/>
          </p:cNvSpPr>
          <p:nvPr>
            <p:ph type="title" idx="4294967295"/>
          </p:nvPr>
        </p:nvSpPr>
        <p:spPr>
          <a:xfrm>
            <a:off x="1676400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pic>
        <p:nvPicPr>
          <p:cNvPr id="469" name="Google Shape;469;p34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34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471" name="Google Shape;471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34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475" name="Google Shape;475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34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479" name="Google Shape;479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34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483" name="Google Shape;483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34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487" name="Google Shape;487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34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491" name="Google Shape;491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34"/>
          <p:cNvGrpSpPr/>
          <p:nvPr/>
        </p:nvGrpSpPr>
        <p:grpSpPr>
          <a:xfrm>
            <a:off x="3962400" y="2667000"/>
            <a:ext cx="1295400" cy="304800"/>
            <a:chOff x="2438400" y="2590800"/>
            <a:chExt cx="1295400" cy="304800"/>
          </a:xfrm>
        </p:grpSpPr>
        <p:cxnSp>
          <p:nvCxnSpPr>
            <p:cNvPr id="495" name="Google Shape;495;p34"/>
            <p:cNvCxnSpPr/>
            <p:nvPr/>
          </p:nvCxnSpPr>
          <p:spPr>
            <a:xfrm rot="10800000">
              <a:off x="2438400" y="2743200"/>
              <a:ext cx="12954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96" name="Google Shape;496;p34"/>
            <p:cNvSpPr txBox="1"/>
            <p:nvPr/>
          </p:nvSpPr>
          <p:spPr>
            <a:xfrm>
              <a:off x="2743200" y="2590800"/>
              <a:ext cx="838200" cy="304800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34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34"/>
          <p:cNvGrpSpPr/>
          <p:nvPr/>
        </p:nvGrpSpPr>
        <p:grpSpPr>
          <a:xfrm>
            <a:off x="6781800" y="1981200"/>
            <a:ext cx="2971800" cy="990600"/>
            <a:chOff x="5257800" y="1981200"/>
            <a:chExt cx="2971800" cy="990600"/>
          </a:xfrm>
        </p:grpSpPr>
        <p:grpSp>
          <p:nvGrpSpPr>
            <p:cNvPr id="499" name="Google Shape;499;p34"/>
            <p:cNvGrpSpPr/>
            <p:nvPr/>
          </p:nvGrpSpPr>
          <p:grpSpPr>
            <a:xfrm>
              <a:off x="5257800" y="2667000"/>
              <a:ext cx="1295400" cy="304800"/>
              <a:chOff x="5257800" y="2590800"/>
              <a:chExt cx="1295400" cy="304800"/>
            </a:xfrm>
          </p:grpSpPr>
          <p:cxnSp>
            <p:nvCxnSpPr>
              <p:cNvPr id="500" name="Google Shape;500;p34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501" name="Google Shape;501;p34"/>
              <p:cNvSpPr txBox="1"/>
              <p:nvPr/>
            </p:nvSpPr>
            <p:spPr>
              <a:xfrm>
                <a:off x="5486400" y="2590800"/>
                <a:ext cx="838200" cy="304800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34"/>
            <p:cNvSpPr/>
            <p:nvPr/>
          </p:nvSpPr>
          <p:spPr>
            <a:xfrm>
              <a:off x="7086600" y="1981200"/>
              <a:ext cx="1143000" cy="838200"/>
            </a:xfrm>
            <a:prstGeom prst="ellipse">
              <a:avLst/>
            </a:pr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5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5"/>
          <p:cNvSpPr txBox="1">
            <a:spLocks noGrp="1"/>
          </p:cNvSpPr>
          <p:nvPr>
            <p:ph type="title" idx="4294967295"/>
          </p:nvPr>
        </p:nvSpPr>
        <p:spPr>
          <a:xfrm>
            <a:off x="1620043" y="292101"/>
            <a:ext cx="10018713" cy="4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grpSp>
        <p:nvGrpSpPr>
          <p:cNvPr id="511" name="Google Shape;511;p35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12" name="Google Shape;512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35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516" name="Google Shape;516;p35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35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520" name="Google Shape;520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35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24" name="Google Shape;524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35"/>
          <p:cNvSpPr/>
          <p:nvPr/>
        </p:nvSpPr>
        <p:spPr>
          <a:xfrm>
            <a:off x="5410200" y="1981200"/>
            <a:ext cx="1295400" cy="838200"/>
          </a:xfrm>
          <a:prstGeom prst="ellipse">
            <a:avLst/>
          </a:prstGeom>
          <a:noFill/>
          <a:ln w="38100" cap="flat" cmpd="sng">
            <a:solidFill>
              <a:srgbClr val="531A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35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29" name="Google Shape;529;p35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0" name="Google Shape;530;p35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35"/>
          <p:cNvGrpSpPr/>
          <p:nvPr/>
        </p:nvGrpSpPr>
        <p:grpSpPr>
          <a:xfrm>
            <a:off x="7086600" y="1981201"/>
            <a:ext cx="1447800" cy="307777"/>
            <a:chOff x="5715000" y="1981200"/>
            <a:chExt cx="1295400" cy="307777"/>
          </a:xfrm>
        </p:grpSpPr>
        <p:cxnSp>
          <p:nvCxnSpPr>
            <p:cNvPr id="532" name="Google Shape;532;p35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3" name="Google Shape;533;p35"/>
            <p:cNvSpPr txBox="1"/>
            <p:nvPr/>
          </p:nvSpPr>
          <p:spPr>
            <a:xfrm>
              <a:off x="6020385" y="1981200"/>
              <a:ext cx="838033" cy="307777"/>
            </a:xfrm>
            <a:prstGeom prst="rect">
              <a:avLst/>
            </a:prstGeom>
            <a:solidFill>
              <a:srgbClr val="0080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36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6"/>
          <p:cNvSpPr txBox="1">
            <a:spLocks noGrp="1"/>
          </p:cNvSpPr>
          <p:nvPr>
            <p:ph type="title" idx="4294967295"/>
          </p:nvPr>
        </p:nvSpPr>
        <p:spPr>
          <a:xfrm>
            <a:off x="1638300" y="457200"/>
            <a:ext cx="10018713" cy="68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41" name="Google Shape;541;p36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grpSp>
        <p:nvGrpSpPr>
          <p:cNvPr id="542" name="Google Shape;542;p36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43" name="Google Shape;543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36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47" name="Google Shape;547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0" name="Google Shape;550;p36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36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52" name="Google Shape;552;p36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53" name="Google Shape;553;p36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w="25400" cap="flat" cmpd="sng">
              <a:solidFill>
                <a:srgbClr val="FF0000">
                  <a:alpha val="49019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37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7"/>
          <p:cNvSpPr txBox="1">
            <a:spLocks noGrp="1"/>
          </p:cNvSpPr>
          <p:nvPr>
            <p:ph type="title" idx="4294967295"/>
          </p:nvPr>
        </p:nvSpPr>
        <p:spPr>
          <a:xfrm>
            <a:off x="1620043" y="497229"/>
            <a:ext cx="1001871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61" name="Google Shape;561;p37"/>
          <p:cNvSpPr txBox="1">
            <a:spLocks noGrp="1"/>
          </p:cNvSpPr>
          <p:nvPr>
            <p:ph type="body" idx="4294967295"/>
          </p:nvPr>
        </p:nvSpPr>
        <p:spPr>
          <a:xfrm>
            <a:off x="1676400" y="5006975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endParaRPr/>
          </a:p>
        </p:txBody>
      </p:sp>
      <p:grpSp>
        <p:nvGrpSpPr>
          <p:cNvPr id="562" name="Google Shape;562;p37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63" name="Google Shape;563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37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67" name="Google Shape;567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37"/>
          <p:cNvSpPr/>
          <p:nvPr/>
        </p:nvSpPr>
        <p:spPr>
          <a:xfrm>
            <a:off x="5486400" y="1981200"/>
            <a:ext cx="1143000" cy="838200"/>
          </a:xfrm>
          <a:prstGeom prst="ellipse">
            <a:avLst/>
          </a:prstGeom>
          <a:noFill/>
          <a:ln w="38100" cap="flat" cmpd="sng">
            <a:solidFill>
              <a:srgbClr val="531A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37"/>
          <p:cNvGrpSpPr/>
          <p:nvPr/>
        </p:nvGrpSpPr>
        <p:grpSpPr>
          <a:xfrm>
            <a:off x="4648200" y="2743201"/>
            <a:ext cx="1371600" cy="307777"/>
            <a:chOff x="1981200" y="2667000"/>
            <a:chExt cx="1295400" cy="307777"/>
          </a:xfrm>
        </p:grpSpPr>
        <p:cxnSp>
          <p:nvCxnSpPr>
            <p:cNvPr id="572" name="Google Shape;572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73" name="Google Shape;573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37"/>
          <p:cNvGrpSpPr/>
          <p:nvPr/>
        </p:nvGrpSpPr>
        <p:grpSpPr>
          <a:xfrm>
            <a:off x="3352800" y="2743201"/>
            <a:ext cx="1371600" cy="307777"/>
            <a:chOff x="1981200" y="2667000"/>
            <a:chExt cx="1295400" cy="307777"/>
          </a:xfrm>
        </p:grpSpPr>
        <p:cxnSp>
          <p:nvCxnSpPr>
            <p:cNvPr id="575" name="Google Shape;575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76" name="Google Shape;576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7" name="Google Shape;577;p37"/>
          <p:cNvGrpSpPr/>
          <p:nvPr/>
        </p:nvGrpSpPr>
        <p:grpSpPr>
          <a:xfrm>
            <a:off x="6096000" y="2743201"/>
            <a:ext cx="2743200" cy="307777"/>
            <a:chOff x="4724400" y="2743200"/>
            <a:chExt cx="2590800" cy="307777"/>
          </a:xfrm>
        </p:grpSpPr>
        <p:grpSp>
          <p:nvGrpSpPr>
            <p:cNvPr id="578" name="Google Shape;578;p37"/>
            <p:cNvGrpSpPr/>
            <p:nvPr/>
          </p:nvGrpSpPr>
          <p:grpSpPr>
            <a:xfrm>
              <a:off x="60198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79" name="Google Shape;579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580" name="Google Shape;580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1" name="Google Shape;581;p37"/>
            <p:cNvGrpSpPr/>
            <p:nvPr/>
          </p:nvGrpSpPr>
          <p:grpSpPr>
            <a:xfrm>
              <a:off x="47244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82" name="Google Shape;582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583" name="Google Shape;583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4" name="Google Shape;584;p37"/>
          <p:cNvGrpSpPr/>
          <p:nvPr/>
        </p:nvGrpSpPr>
        <p:grpSpPr>
          <a:xfrm>
            <a:off x="3581400" y="1752600"/>
            <a:ext cx="4876800" cy="1068388"/>
            <a:chOff x="2057400" y="1752600"/>
            <a:chExt cx="4876800" cy="1067594"/>
          </a:xfrm>
        </p:grpSpPr>
        <p:cxnSp>
          <p:nvCxnSpPr>
            <p:cNvPr id="585" name="Google Shape;585;p37"/>
            <p:cNvCxnSpPr/>
            <p:nvPr/>
          </p:nvCxnSpPr>
          <p:spPr>
            <a:xfrm rot="-5400000" flipH="1">
              <a:off x="2894806" y="2134394"/>
              <a:ext cx="686594" cy="685006"/>
            </a:xfrm>
            <a:prstGeom prst="straightConnector1">
              <a:avLst/>
            </a:prstGeom>
            <a:noFill/>
            <a:ln w="50800" cap="flat" cmpd="sng">
              <a:solidFill>
                <a:srgbClr val="99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6" name="Google Shape;586;p37"/>
            <p:cNvSpPr txBox="1"/>
            <p:nvPr/>
          </p:nvSpPr>
          <p:spPr>
            <a:xfrm>
              <a:off x="2057400" y="1752600"/>
              <a:ext cx="914400" cy="399813"/>
            </a:xfrm>
            <a:prstGeom prst="rect">
              <a:avLst/>
            </a:prstGeom>
            <a:solidFill>
              <a:srgbClr val="660033"/>
            </a:solidFill>
            <a:ln w="2540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7" name="Google Shape;587;p37"/>
            <p:cNvCxnSpPr/>
            <p:nvPr/>
          </p:nvCxnSpPr>
          <p:spPr>
            <a:xfrm rot="5400000">
              <a:off x="5524500" y="2247900"/>
              <a:ext cx="609600" cy="533400"/>
            </a:xfrm>
            <a:prstGeom prst="straightConnector1">
              <a:avLst/>
            </a:prstGeom>
            <a:noFill/>
            <a:ln w="50800" cap="flat" cmpd="sng">
              <a:solidFill>
                <a:srgbClr val="99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8" name="Google Shape;588;p37"/>
            <p:cNvSpPr txBox="1"/>
            <p:nvPr/>
          </p:nvSpPr>
          <p:spPr>
            <a:xfrm>
              <a:off x="6019800" y="1828743"/>
              <a:ext cx="914400" cy="399813"/>
            </a:xfrm>
            <a:prstGeom prst="rect">
              <a:avLst/>
            </a:prstGeom>
            <a:solidFill>
              <a:srgbClr val="660033"/>
            </a:solidFill>
            <a:ln w="2540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9" name="Google Shape;589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38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8"/>
          <p:cNvSpPr txBox="1">
            <a:spLocks noGrp="1"/>
          </p:cNvSpPr>
          <p:nvPr>
            <p:ph type="title" idx="4294967295"/>
          </p:nvPr>
        </p:nvSpPr>
        <p:spPr>
          <a:xfrm>
            <a:off x="1676400" y="454024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596" name="Google Shape;596;p38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97" name="Google Shape;597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01" name="Google Shape;601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38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w="38100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p38"/>
          <p:cNvGrpSpPr/>
          <p:nvPr/>
        </p:nvGrpSpPr>
        <p:grpSpPr>
          <a:xfrm>
            <a:off x="6934200" y="1981201"/>
            <a:ext cx="1600200" cy="307777"/>
            <a:chOff x="5715000" y="1981200"/>
            <a:chExt cx="1295400" cy="307777"/>
          </a:xfrm>
        </p:grpSpPr>
        <p:cxnSp>
          <p:nvCxnSpPr>
            <p:cNvPr id="606" name="Google Shape;606;p38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07" name="Google Shape;607;p38"/>
            <p:cNvSpPr txBox="1"/>
            <p:nvPr/>
          </p:nvSpPr>
          <p:spPr>
            <a:xfrm>
              <a:off x="6019574" y="1981200"/>
              <a:ext cx="837898" cy="307777"/>
            </a:xfrm>
            <a:prstGeom prst="rect">
              <a:avLst/>
            </a:prstGeom>
            <a:solidFill>
              <a:srgbClr val="0080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38"/>
          <p:cNvSpPr/>
          <p:nvPr/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177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9" name="Google Shape;609;p3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39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9"/>
          <p:cNvSpPr txBox="1">
            <a:spLocks noGrp="1"/>
          </p:cNvSpPr>
          <p:nvPr>
            <p:ph type="title" idx="4294967295"/>
          </p:nvPr>
        </p:nvSpPr>
        <p:spPr>
          <a:xfrm>
            <a:off x="1512886" y="383977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16" name="Google Shape;616;p39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617" name="Google Shape;617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39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21" name="Google Shape;621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39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39"/>
          <p:cNvGrpSpPr/>
          <p:nvPr/>
        </p:nvGrpSpPr>
        <p:grpSpPr>
          <a:xfrm>
            <a:off x="4724400" y="2743201"/>
            <a:ext cx="1447800" cy="307777"/>
            <a:chOff x="1981200" y="2667000"/>
            <a:chExt cx="1295400" cy="307777"/>
          </a:xfrm>
        </p:grpSpPr>
        <p:cxnSp>
          <p:nvCxnSpPr>
            <p:cNvPr id="626" name="Google Shape;626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27" name="Google Shape;627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39"/>
          <p:cNvGrpSpPr/>
          <p:nvPr/>
        </p:nvGrpSpPr>
        <p:grpSpPr>
          <a:xfrm>
            <a:off x="3276600" y="2743201"/>
            <a:ext cx="1447800" cy="307777"/>
            <a:chOff x="1981200" y="2667000"/>
            <a:chExt cx="1295400" cy="307777"/>
          </a:xfrm>
        </p:grpSpPr>
        <p:cxnSp>
          <p:nvCxnSpPr>
            <p:cNvPr id="629" name="Google Shape;629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30" name="Google Shape;630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0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0"/>
          <p:cNvSpPr txBox="1">
            <a:spLocks noGrp="1"/>
          </p:cNvSpPr>
          <p:nvPr>
            <p:ph type="title" idx="4294967295"/>
          </p:nvPr>
        </p:nvSpPr>
        <p:spPr>
          <a:xfrm>
            <a:off x="1676400" y="444304"/>
            <a:ext cx="100187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38" name="Google Shape;638;p4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39" name="Google Shape;639;p4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p40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w="38100" cap="flat" cmpd="sng">
            <a:solidFill>
              <a:srgbClr val="00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40"/>
          <p:cNvGrpSpPr/>
          <p:nvPr/>
        </p:nvGrpSpPr>
        <p:grpSpPr>
          <a:xfrm>
            <a:off x="7391400" y="2743201"/>
            <a:ext cx="1447800" cy="307777"/>
            <a:chOff x="5257800" y="2590800"/>
            <a:chExt cx="1295400" cy="307777"/>
          </a:xfrm>
        </p:grpSpPr>
        <p:cxnSp>
          <p:nvCxnSpPr>
            <p:cNvPr id="644" name="Google Shape;644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45" name="Google Shape;645;p40"/>
            <p:cNvSpPr txBox="1"/>
            <p:nvPr/>
          </p:nvSpPr>
          <p:spPr>
            <a:xfrm>
              <a:off x="5486484" y="2590800"/>
              <a:ext cx="838033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10.2.0.0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40"/>
          <p:cNvGrpSpPr/>
          <p:nvPr/>
        </p:nvGrpSpPr>
        <p:grpSpPr>
          <a:xfrm>
            <a:off x="6096000" y="2743201"/>
            <a:ext cx="1371600" cy="307777"/>
            <a:chOff x="5257800" y="2590800"/>
            <a:chExt cx="1295400" cy="307777"/>
          </a:xfrm>
        </p:grpSpPr>
        <p:cxnSp>
          <p:nvCxnSpPr>
            <p:cNvPr id="647" name="Google Shape;647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48" name="Google Shape;648;p40"/>
            <p:cNvSpPr txBox="1"/>
            <p:nvPr/>
          </p:nvSpPr>
          <p:spPr>
            <a:xfrm>
              <a:off x="5485694" y="2590800"/>
              <a:ext cx="839611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41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4859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1"/>
          <p:cNvSpPr txBox="1">
            <a:spLocks noGrp="1"/>
          </p:cNvSpPr>
          <p:nvPr>
            <p:ph type="title" idx="4294967295"/>
          </p:nvPr>
        </p:nvSpPr>
        <p:spPr>
          <a:xfrm>
            <a:off x="1676400" y="571500"/>
            <a:ext cx="10018713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656" name="Google Shape;656;p41"/>
          <p:cNvSpPr txBox="1">
            <a:spLocks noGrp="1"/>
          </p:cNvSpPr>
          <p:nvPr>
            <p:ph type="body" idx="4294967295"/>
          </p:nvPr>
        </p:nvSpPr>
        <p:spPr>
          <a:xfrm>
            <a:off x="1558835" y="5175252"/>
            <a:ext cx="9609908" cy="13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 sz="2400"/>
              <a:t>The network has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 b="1">
                <a:solidFill>
                  <a:srgbClr val="FF0000"/>
                </a:solidFill>
              </a:rPr>
              <a:t>CONVERGED!</a:t>
            </a:r>
            <a:endParaRPr sz="2400" b="1"/>
          </a:p>
          <a:p>
            <a:pPr marL="796925" lvl="2" indent="-3429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Font typeface="Tahoma"/>
              <a:buChar char="•"/>
            </a:pPr>
            <a:r>
              <a:rPr lang="en-US" sz="2400"/>
              <a:t>All routers now know about all of the networks attached to all of their neighbouring routers.</a:t>
            </a:r>
            <a:endParaRPr sz="24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657" name="Google Shape;657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2"/>
          <p:cNvSpPr txBox="1">
            <a:spLocks noGrp="1"/>
          </p:cNvSpPr>
          <p:nvPr>
            <p:ph type="title" idx="4294967295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 dirty="0"/>
              <a:t>Convergence</a:t>
            </a:r>
            <a:endParaRPr dirty="0"/>
          </a:p>
        </p:txBody>
      </p:sp>
      <p:sp>
        <p:nvSpPr>
          <p:cNvPr id="663" name="Google Shape;663;p42"/>
          <p:cNvSpPr txBox="1">
            <a:spLocks noGrp="1"/>
          </p:cNvSpPr>
          <p:nvPr>
            <p:ph type="body" idx="4294967295"/>
          </p:nvPr>
        </p:nvSpPr>
        <p:spPr>
          <a:xfrm>
            <a:off x="1362075" y="971551"/>
            <a:ext cx="5346455" cy="535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>
              <a:spcBef>
                <a:spcPts val="0"/>
              </a:spcBef>
            </a:pPr>
            <a:r>
              <a:rPr lang="en-US" b="1" dirty="0"/>
              <a:t>Convergence</a:t>
            </a:r>
            <a:r>
              <a:rPr lang="en-US" dirty="0"/>
              <a:t> is the time a network takes to reach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stable routing state</a:t>
            </a:r>
            <a:r>
              <a:rPr lang="en-US" dirty="0"/>
              <a:t> after a change (e.g., link failure</a:t>
            </a:r>
            <a:r>
              <a:rPr lang="en-US" dirty="0" smtClean="0"/>
              <a:t>).</a:t>
            </a:r>
          </a:p>
          <a:p>
            <a:pPr marL="285750" lvl="0" indent="-285750">
              <a:spcBef>
                <a:spcPts val="0"/>
              </a:spcBef>
            </a:pPr>
            <a:endParaRPr lang="en-US" dirty="0" smtClean="0"/>
          </a:p>
          <a:p>
            <a:pPr marL="285750" lvl="0" indent="-285750"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general,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larger networks </a:t>
            </a:r>
            <a:r>
              <a:rPr lang="en-US" b="1" dirty="0"/>
              <a:t>take </a:t>
            </a:r>
            <a:r>
              <a:rPr lang="en-US" b="1" dirty="0">
                <a:solidFill>
                  <a:srgbClr val="0070C0"/>
                </a:solidFill>
              </a:rPr>
              <a:t>longer to </a:t>
            </a:r>
            <a:r>
              <a:rPr lang="en-US" b="1" dirty="0" smtClean="0">
                <a:solidFill>
                  <a:srgbClr val="0070C0"/>
                </a:solidFill>
              </a:rPr>
              <a:t>converge</a:t>
            </a:r>
            <a:r>
              <a:rPr lang="en-US" b="1" dirty="0" smtClean="0"/>
              <a:t>.</a:t>
            </a:r>
          </a:p>
          <a:p>
            <a:pPr marL="285750" lvl="0" indent="-285750">
              <a:spcBef>
                <a:spcPts val="0"/>
              </a:spcBef>
            </a:pPr>
            <a:r>
              <a:rPr lang="en-US" dirty="0" smtClean="0"/>
              <a:t>Routing </a:t>
            </a:r>
            <a:r>
              <a:rPr lang="en-US" dirty="0"/>
              <a:t>protocols are compared based on </a:t>
            </a:r>
            <a:r>
              <a:rPr lang="en-US" b="1" dirty="0"/>
              <a:t>how fast they spread routing updates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→</a:t>
            </a:r>
            <a:r>
              <a:rPr lang="en-US" dirty="0"/>
              <a:t> this is called </a:t>
            </a:r>
            <a:r>
              <a:rPr lang="en-US" b="1" dirty="0">
                <a:solidFill>
                  <a:srgbClr val="FF0000"/>
                </a:solidFill>
              </a:rPr>
              <a:t>speed of convergence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285750" lvl="0" indent="-285750">
              <a:spcBef>
                <a:spcPts val="1080"/>
              </a:spcBef>
            </a:pPr>
            <a:r>
              <a:rPr lang="en-US" dirty="0" smtClean="0"/>
              <a:t>A </a:t>
            </a:r>
            <a:r>
              <a:rPr lang="en-US" dirty="0"/>
              <a:t>network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cannot forward traffic correctly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until convergence is complete.</a:t>
            </a:r>
            <a:endParaRPr dirty="0"/>
          </a:p>
        </p:txBody>
      </p:sp>
      <p:pic>
        <p:nvPicPr>
          <p:cNvPr id="664" name="Google Shape;664;p42" descr="dv1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9832" y="1718897"/>
            <a:ext cx="495776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2"/>
          <p:cNvSpPr txBox="1">
            <a:spLocks noGrp="1"/>
          </p:cNvSpPr>
          <p:nvPr>
            <p:ph type="title" idx="4294967295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IN" dirty="0" smtClean="0"/>
              <a:t>Disadvantages</a:t>
            </a:r>
            <a:endParaRPr dirty="0"/>
          </a:p>
        </p:txBody>
      </p:sp>
      <p:sp>
        <p:nvSpPr>
          <p:cNvPr id="663" name="Google Shape;663;p42"/>
          <p:cNvSpPr txBox="1">
            <a:spLocks noGrp="1"/>
          </p:cNvSpPr>
          <p:nvPr>
            <p:ph type="body" idx="4294967295"/>
          </p:nvPr>
        </p:nvSpPr>
        <p:spPr>
          <a:xfrm>
            <a:off x="1362075" y="971551"/>
            <a:ext cx="10709852" cy="535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Routers have </a:t>
            </a:r>
            <a:r>
              <a:rPr lang="en-US" altLang="en-US" sz="2800" b="1" dirty="0">
                <a:solidFill>
                  <a:srgbClr val="0070C0"/>
                </a:solidFill>
                <a:latin typeface="Corbel" panose="020B0503020204020204" pitchFamily="34" charset="0"/>
              </a:rPr>
              <a:t>only local knowledge</a:t>
            </a:r>
            <a:r>
              <a:rPr lang="en-US" altLang="en-US" sz="2800" dirty="0">
                <a:solidFill>
                  <a:srgbClr val="0070C0"/>
                </a:solidFill>
                <a:latin typeface="Corbel" panose="020B0503020204020204" pitchFamily="3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(they know information only from neighbors).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  <a:latin typeface="Corbel" panose="020B0503020204020204" pitchFamily="34" charset="0"/>
              </a:rPr>
              <a:t>Routers 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trust information received from neighbors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, even if it is outdated or incorrect.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US" sz="2800" b="1" dirty="0" smtClean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  <a:latin typeface="Corbel" panose="020B0503020204020204" pitchFamily="34" charset="0"/>
              </a:rPr>
              <a:t>Routing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updates are </a:t>
            </a:r>
            <a:r>
              <a:rPr lang="en-US" altLang="en-US" sz="2800" b="1" dirty="0">
                <a:solidFill>
                  <a:srgbClr val="0070C0"/>
                </a:solidFill>
                <a:latin typeface="Corbel" panose="020B0503020204020204" pitchFamily="34" charset="0"/>
              </a:rPr>
              <a:t>slow to converge</a:t>
            </a:r>
            <a:r>
              <a:rPr lang="en-US" altLang="en-US" sz="2800" dirty="0">
                <a:solidFill>
                  <a:srgbClr val="0070C0"/>
                </a:solidFill>
                <a:latin typeface="Corbel" panose="020B0503020204020204" pitchFamily="3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after a link failure.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  <a:latin typeface="Corbel" panose="020B0503020204020204" pitchFamily="34" charset="0"/>
              </a:rPr>
              <a:t>Incorrect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routing information can </a:t>
            </a:r>
            <a:r>
              <a:rPr lang="en-US" altLang="en-US" sz="2800" b="1" dirty="0">
                <a:solidFill>
                  <a:schemeClr val="tx1"/>
                </a:solidFill>
                <a:latin typeface="Corbel" panose="020B0503020204020204" pitchFamily="34" charset="0"/>
              </a:rPr>
              <a:t>spread from one router to another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  <a:latin typeface="Corbel" panose="020B0503020204020204" pitchFamily="34" charset="0"/>
              </a:rPr>
              <a:t>This </a:t>
            </a:r>
            <a:r>
              <a:rPr lang="en-US" altLang="en-US" sz="2800" dirty="0">
                <a:solidFill>
                  <a:schemeClr val="tx1"/>
                </a:solidFill>
                <a:latin typeface="Corbel" panose="020B0503020204020204" pitchFamily="34" charset="0"/>
              </a:rPr>
              <a:t>can create 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routing loops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665" name="Google Shape;665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148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543" y="2117114"/>
            <a:ext cx="7048500" cy="1076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827" y="3775930"/>
            <a:ext cx="5223137" cy="1956655"/>
          </a:xfrm>
          <a:prstGeom prst="rect">
            <a:avLst/>
          </a:prstGeom>
        </p:spPr>
      </p:pic>
      <p:sp>
        <p:nvSpPr>
          <p:cNvPr id="5" name="AutoShape 2" descr="Network Device Status Icons, Jon Fuller's Portfoli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 descr="2+ Hundred Computer Network Outage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667" y="2242039"/>
            <a:ext cx="641838" cy="6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64684" y="4246684"/>
            <a:ext cx="6514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Calisto MT" panose="02040603050505030304" pitchFamily="18" charset="0"/>
              </a:rPr>
              <a:t>∞, </a:t>
            </a:r>
            <a:r>
              <a:rPr lang="en-IN" sz="1200" b="1" dirty="0" smtClean="0">
                <a:latin typeface="Calisto MT" panose="02040603050505030304" pitchFamily="18" charset="0"/>
              </a:rPr>
              <a:t>A</a:t>
            </a:r>
            <a:endParaRPr lang="en-IN" sz="1800" b="1" dirty="0">
              <a:latin typeface="Calisto MT" panose="02040603050505030304" pitchFamily="18" charset="0"/>
            </a:endParaRPr>
          </a:p>
        </p:txBody>
      </p:sp>
      <p:sp>
        <p:nvSpPr>
          <p:cNvPr id="8" name="Google Shape;662;p42"/>
          <p:cNvSpPr txBox="1">
            <a:spLocks/>
          </p:cNvSpPr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3600" dirty="0" smtClean="0"/>
              <a:t>Count to infinity Problem :: Routing Loops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1400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60" y="2417884"/>
            <a:ext cx="6291880" cy="364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70;p29"/>
          <p:cNvSpPr txBox="1">
            <a:spLocks/>
          </p:cNvSpPr>
          <p:nvPr/>
        </p:nvSpPr>
        <p:spPr>
          <a:xfrm>
            <a:off x="7936523" y="1403837"/>
            <a:ext cx="4047392" cy="508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 dirty="0"/>
              <a:t>After a specific amount of time, </a:t>
            </a:r>
            <a:r>
              <a:rPr lang="en-US" dirty="0" smtClean="0"/>
              <a:t>B </a:t>
            </a:r>
            <a:r>
              <a:rPr lang="en-US" dirty="0"/>
              <a:t>receives C's routing table.</a:t>
            </a:r>
          </a:p>
          <a:p>
            <a:endParaRPr lang="en-US" dirty="0" smtClean="0"/>
          </a:p>
          <a:p>
            <a:r>
              <a:rPr lang="en-US" dirty="0" smtClean="0"/>
              <a:t>Since </a:t>
            </a:r>
            <a:r>
              <a:rPr lang="en-US" dirty="0"/>
              <a:t>C does not know that the link between A and B is down, it assumes a path to A with cost 2 (1 from C to B and 1 from B to A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B </a:t>
            </a:r>
            <a:r>
              <a:rPr lang="en-US" dirty="0"/>
              <a:t>receives C’s table and assumes there is an </a:t>
            </a:r>
            <a:r>
              <a:rPr lang="en-US" b="1" dirty="0" smtClean="0">
                <a:solidFill>
                  <a:srgbClr val="FF0000"/>
                </a:solidFill>
              </a:rPr>
              <a:t>alternate </a:t>
            </a:r>
            <a:r>
              <a:rPr lang="en-US" b="1" dirty="0">
                <a:solidFill>
                  <a:srgbClr val="FF0000"/>
                </a:solidFill>
              </a:rPr>
              <a:t>path</a:t>
            </a:r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to A via </a:t>
            </a:r>
            <a:r>
              <a:rPr lang="en-US" b="1" dirty="0" smtClean="0">
                <a:solidFill>
                  <a:srgbClr val="7030A0"/>
                </a:solidFill>
              </a:rPr>
              <a:t>C</a:t>
            </a:r>
          </a:p>
          <a:p>
            <a:r>
              <a:rPr lang="en-US" dirty="0"/>
              <a:t>S</a:t>
            </a:r>
            <a:r>
              <a:rPr lang="en-US" dirty="0" smtClean="0"/>
              <a:t>o </a:t>
            </a:r>
            <a:r>
              <a:rPr lang="en-US" dirty="0"/>
              <a:t>it updates its distance to A from infinity to 3 (1 from B to C + 2 from C to A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Once </a:t>
            </a:r>
            <a:r>
              <a:rPr lang="en-US" dirty="0"/>
              <a:t>again, routers exchange their tables.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119" y="1296956"/>
            <a:ext cx="5728188" cy="874710"/>
          </a:xfrm>
          <a:prstGeom prst="rect">
            <a:avLst/>
          </a:prstGeom>
        </p:spPr>
      </p:pic>
      <p:pic>
        <p:nvPicPr>
          <p:cNvPr id="6" name="Picture 4" descr="2+ Hundred Computer Network Outage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228" y="1403837"/>
            <a:ext cx="521610" cy="52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14500" y="3734837"/>
            <a:ext cx="5934807" cy="2268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Google Shape;662;p42"/>
          <p:cNvSpPr txBox="1">
            <a:spLocks/>
          </p:cNvSpPr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3600" dirty="0" smtClean="0"/>
              <a:t>Count to infinity Problem :: Routing Loops</a:t>
            </a:r>
            <a:endParaRPr lang="en-US" sz="3600" dirty="0"/>
          </a:p>
        </p:txBody>
      </p:sp>
      <p:sp>
        <p:nvSpPr>
          <p:cNvPr id="10" name="Google Shape;648;p40"/>
          <p:cNvSpPr txBox="1"/>
          <p:nvPr/>
        </p:nvSpPr>
        <p:spPr>
          <a:xfrm>
            <a:off x="4930531" y="1242519"/>
            <a:ext cx="889000" cy="430847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 dirty="0" smtClean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24;p39"/>
          <p:cNvSpPr/>
          <p:nvPr/>
        </p:nvSpPr>
        <p:spPr>
          <a:xfrm>
            <a:off x="5819532" y="2858018"/>
            <a:ext cx="618214" cy="4485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624;p39"/>
          <p:cNvSpPr/>
          <p:nvPr/>
        </p:nvSpPr>
        <p:spPr>
          <a:xfrm>
            <a:off x="4842270" y="3268955"/>
            <a:ext cx="618214" cy="4485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21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77556E-17 L -0.11133 -0.007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3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1" grpId="1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pic>
        <p:nvPicPr>
          <p:cNvPr id="2050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60" y="2417884"/>
            <a:ext cx="6291880" cy="364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70;p29"/>
          <p:cNvSpPr txBox="1">
            <a:spLocks/>
          </p:cNvSpPr>
          <p:nvPr/>
        </p:nvSpPr>
        <p:spPr>
          <a:xfrm>
            <a:off x="7936522" y="1403837"/>
            <a:ext cx="4108939" cy="46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 dirty="0"/>
              <a:t>When C receives B's routing table, it sees that B has changed the weight of its link to A from 1 to </a:t>
            </a:r>
            <a:r>
              <a:rPr lang="en-US" dirty="0" smtClean="0"/>
              <a:t>3.</a:t>
            </a:r>
          </a:p>
          <a:p>
            <a:endParaRPr lang="en-US" dirty="0" smtClean="0"/>
          </a:p>
          <a:p>
            <a:r>
              <a:rPr lang="en-US" dirty="0" smtClean="0"/>
              <a:t>So </a:t>
            </a:r>
            <a:r>
              <a:rPr lang="en-US" dirty="0"/>
              <a:t>C updates its table and changes the weight of the link to A to 4 (1 for C to B, and 3 for B to A, as B said).</a:t>
            </a:r>
          </a:p>
          <a:p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process loops until all nodes find out that the weight of link to A is infinity.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119" y="1278913"/>
            <a:ext cx="5728188" cy="874710"/>
          </a:xfrm>
          <a:prstGeom prst="rect">
            <a:avLst/>
          </a:prstGeom>
        </p:spPr>
      </p:pic>
      <p:pic>
        <p:nvPicPr>
          <p:cNvPr id="6" name="Picture 4" descr="2+ Hundred Computer Network Outage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228" y="1403837"/>
            <a:ext cx="521610" cy="52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14500" y="4097215"/>
            <a:ext cx="5934807" cy="1906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714499" y="3734837"/>
            <a:ext cx="5934807" cy="350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648;p40"/>
          <p:cNvSpPr txBox="1"/>
          <p:nvPr/>
        </p:nvSpPr>
        <p:spPr>
          <a:xfrm>
            <a:off x="3358838" y="1162344"/>
            <a:ext cx="889000" cy="430847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 dirty="0" smtClean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B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62;p42"/>
          <p:cNvSpPr txBox="1">
            <a:spLocks/>
          </p:cNvSpPr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3600" dirty="0" smtClean="0"/>
              <a:t>Count to infinity Problem :: Routing Loops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4693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0.13958 0.029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79" y="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0" grpId="1" animBg="1"/>
      <p:bldP spid="10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4" name="Google Shape;270;p29"/>
          <p:cNvSpPr txBox="1">
            <a:spLocks/>
          </p:cNvSpPr>
          <p:nvPr/>
        </p:nvSpPr>
        <p:spPr>
          <a:xfrm>
            <a:off x="1098684" y="2839893"/>
            <a:ext cx="10326254" cy="304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 sz="2800" dirty="0"/>
              <a:t>One way to solve this problem is </a:t>
            </a:r>
            <a:r>
              <a:rPr lang="en-US" sz="2800" dirty="0" smtClean="0"/>
              <a:t>that </a:t>
            </a:r>
            <a:r>
              <a:rPr lang="en-US" sz="2800" dirty="0" smtClean="0"/>
              <a:t>a </a:t>
            </a:r>
            <a:r>
              <a:rPr lang="en-US" sz="2800" dirty="0"/>
              <a:t>router does not advertise a route back out the interface on which it was </a:t>
            </a:r>
            <a:r>
              <a:rPr lang="en-US" sz="2800" dirty="0" smtClean="0"/>
              <a:t>learned.</a:t>
            </a:r>
          </a:p>
          <a:p>
            <a:r>
              <a:rPr lang="en-US" sz="2800" dirty="0" smtClean="0"/>
              <a:t>Or </a:t>
            </a:r>
            <a:r>
              <a:rPr lang="en-US" sz="2800" dirty="0"/>
              <a:t>“Poison </a:t>
            </a:r>
            <a:r>
              <a:rPr lang="en-US" sz="2800" dirty="0" smtClean="0"/>
              <a:t>reverse”: </a:t>
            </a:r>
            <a:r>
              <a:rPr lang="en-US" sz="2800" dirty="0"/>
              <a:t>advertise that route back to the neighbor with an infinite </a:t>
            </a:r>
            <a:r>
              <a:rPr lang="en-US" sz="2800" dirty="0" smtClean="0"/>
              <a:t>metric.</a:t>
            </a:r>
            <a:endParaRPr lang="en-US" sz="2800" dirty="0" smtClean="0"/>
          </a:p>
          <a:p>
            <a:r>
              <a:rPr lang="en-US" sz="2800" dirty="0" smtClean="0"/>
              <a:t>In </a:t>
            </a:r>
            <a:r>
              <a:rPr lang="en-US" sz="2800" dirty="0"/>
              <a:t>this case, C shouldn't send any information to B about A, because B is the only way to A.</a:t>
            </a:r>
            <a:endParaRPr lang="en-US" sz="28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19" y="1296956"/>
            <a:ext cx="5728188" cy="874710"/>
          </a:xfrm>
          <a:prstGeom prst="rect">
            <a:avLst/>
          </a:prstGeom>
        </p:spPr>
      </p:pic>
      <p:pic>
        <p:nvPicPr>
          <p:cNvPr id="6" name="Picture 4" descr="2+ Hundred Computer Network Outage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228" y="1403837"/>
            <a:ext cx="521610" cy="52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662;p42"/>
          <p:cNvSpPr txBox="1">
            <a:spLocks/>
          </p:cNvSpPr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3600" dirty="0" smtClean="0"/>
              <a:t>Solution One: Split Horizon Rule</a:t>
            </a:r>
            <a:endParaRPr lang="en-US" sz="3600" dirty="0"/>
          </a:p>
        </p:txBody>
      </p:sp>
      <p:sp>
        <p:nvSpPr>
          <p:cNvPr id="10" name="Google Shape;648;p40"/>
          <p:cNvSpPr txBox="1"/>
          <p:nvPr/>
        </p:nvSpPr>
        <p:spPr>
          <a:xfrm>
            <a:off x="4930530" y="1242519"/>
            <a:ext cx="1128525" cy="600124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 dirty="0" smtClean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C, No info of A Network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336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77556E-17 L -0.11133 -0.007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3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0" grpId="1" animBg="1"/>
      <p:bldP spid="10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1397</Words>
  <Application>Microsoft Office PowerPoint</Application>
  <PresentationFormat>Widescreen</PresentationFormat>
  <Paragraphs>253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Corbel</vt:lpstr>
      <vt:lpstr>Arimo</vt:lpstr>
      <vt:lpstr>Calisto MT</vt:lpstr>
      <vt:lpstr>Arial</vt:lpstr>
      <vt:lpstr>Times New Roman</vt:lpstr>
      <vt:lpstr>Calibri</vt:lpstr>
      <vt:lpstr>Tahoma</vt:lpstr>
      <vt:lpstr>Parallax</vt:lpstr>
      <vt:lpstr>Network Layer Routing Algorithm Distance Vector Routing</vt:lpstr>
      <vt:lpstr>Objectives</vt:lpstr>
      <vt:lpstr>Autonomous Systems</vt:lpstr>
      <vt:lpstr>Autonomous Systems</vt:lpstr>
      <vt:lpstr>Popular Routing Protocols</vt:lpstr>
      <vt:lpstr>Routing Algorithms</vt:lpstr>
      <vt:lpstr>Routing Algorithm classification</vt:lpstr>
      <vt:lpstr>Distance Vector Algorithm</vt:lpstr>
      <vt:lpstr>Distance vector algorithm </vt:lpstr>
      <vt:lpstr>How Does It Work?</vt:lpstr>
      <vt:lpstr>PowerPoint Presentation</vt:lpstr>
      <vt:lpstr>Periodic Updates of Distance Vector</vt:lpstr>
      <vt:lpstr>Operation of Distance Vector</vt:lpstr>
      <vt:lpstr>Distance Vector Routing Protocols</vt:lpstr>
      <vt:lpstr>Cold Start</vt:lpstr>
      <vt:lpstr>Cold Start</vt:lpstr>
      <vt:lpstr>Initial Exchange of Routing Information</vt:lpstr>
      <vt:lpstr>Initial Exchange of Routing Information</vt:lpstr>
      <vt:lpstr>Initial Exchange of Routing Information</vt:lpstr>
      <vt:lpstr>Initial Exchange of Routing Information</vt:lpstr>
      <vt:lpstr>Initial Exchange of Routing Information</vt:lpstr>
      <vt:lpstr>Next Exchange of Routing Information</vt:lpstr>
      <vt:lpstr>Next Exchange of Routing Information</vt:lpstr>
      <vt:lpstr>Next Exchange of Routing Information</vt:lpstr>
      <vt:lpstr>Next Exchange of Routing Information</vt:lpstr>
      <vt:lpstr>Next Exchange of Routing Information</vt:lpstr>
      <vt:lpstr>Next Exchange of Routing Information</vt:lpstr>
      <vt:lpstr>Convergence</vt:lpstr>
      <vt:lpstr>Disadvantages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 Routing Algorithm Distance Vector Routing</dc:title>
  <dc:creator>Mehnaz Seraj</dc:creator>
  <cp:lastModifiedBy>Sadia Hamid Kazi</cp:lastModifiedBy>
  <cp:revision>11</cp:revision>
  <dcterms:created xsi:type="dcterms:W3CDTF">2020-06-17T13:03:26Z</dcterms:created>
  <dcterms:modified xsi:type="dcterms:W3CDTF">2025-12-15T11:37:30Z</dcterms:modified>
</cp:coreProperties>
</file>